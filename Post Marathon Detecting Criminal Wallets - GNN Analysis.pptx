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  <p:embeddedFont>
      <p:font typeface="Urbanist ExtraBold"/>
      <p:bold r:id="rId31"/>
      <p:boldItalic r:id="rId32"/>
    </p:embeddedFont>
    <p:embeddedFont>
      <p:font typeface="JetBrains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C6C3C2-6301-4F43-99BE-7885BC93FA24}">
  <a:tblStyle styleId="{0FC6C3C2-6301-4F43-99BE-7885BC93FA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ExtraBold-bold.fntdata"/><Relationship Id="rId30" Type="http://schemas.openxmlformats.org/officeDocument/2006/relationships/font" Target="fonts/Urbanist-bold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ExtraBold-boldItalic.fntdata"/><Relationship Id="rId13" Type="http://schemas.openxmlformats.org/officeDocument/2006/relationships/slide" Target="slides/slide7.xml"/><Relationship Id="rId35" Type="http://schemas.openxmlformats.org/officeDocument/2006/relationships/font" Target="fonts/JetBrainsMono-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JetBrains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97ac8cb5_0_15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97ac8cb5_0_173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b97ac8cb5_0_13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b5d0f3c08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b5d0f3c08_2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b97ac8cb5_0_1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b5d0f3c08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b5d0f3c08_2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b97ac8cb5_0_19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b97ac8cb5_0_21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b97ac8cb5_13_0)">
  <p:cSld name="Generated (g3db97ac8cb5_13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NehorayChalfon0166/final_project.git" TargetMode="External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3" y="130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1025" y="583589"/>
            <a:ext cx="115815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Detecting </a:t>
            </a:r>
            <a:r>
              <a:rPr b="0" i="0" lang="en-US" sz="5400" u="none" cap="none" strike="noStrike">
                <a:solidFill>
                  <a:srgbClr val="F793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Criminal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Wallets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81025" y="3326010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STUDENTS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81025" y="5288160"/>
            <a:ext cx="5324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4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6677025" y="332601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INSTRUCTOR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6677025" y="3821310"/>
            <a:ext cx="493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Ofer Zevin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690088" y="4501123"/>
            <a:ext cx="49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8BDF8"/>
                </a:solidFill>
                <a:uFill>
                  <a:noFill/>
                </a:uFill>
                <a:latin typeface="Urbanist SemiBold"/>
                <a:ea typeface="Urbanist SemiBold"/>
                <a:cs typeface="Urbanist SemiBold"/>
                <a:sym typeface="Urbanist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repo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81025" y="37070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Nehoray Chalfon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42023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Ori Sinvani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46976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Harel Brener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0899" y="4516635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09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76500"/>
            <a:ext cx="53721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76500"/>
            <a:ext cx="5372101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1550" y="28670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Goal &amp; Motivation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400425"/>
            <a:ext cx="45910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Classify Bitcoin addresses as </a:t>
            </a:r>
            <a:r>
              <a:rPr b="0" i="0" lang="en-US" sz="165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benign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b="0" i="0" lang="en-US" sz="165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criminal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based solely on-chain activity.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71550" y="4238625"/>
            <a:ext cx="4591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Improved tools are vital for identifying financial abuse and strengthening global crypto-security.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29400" y="286702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Our Approach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400" y="3400425"/>
            <a:ext cx="45910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Ego-graph GNN: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Constructing a depth-1 ego-graph for each wallet.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4238625"/>
            <a:ext cx="4591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Processing via a 3-layer GATv2 attention network utilizing both node and edge feature vectors.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QUICK REFRESHER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1009650" y="1537644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GATv2: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3-layer architecture with multi-head attention (4 → 4 → 2 heads).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009650" y="2299644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Ghost-node: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Learnable 12-d + node-type embeddings for featureless neighbors.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09650" y="3061644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Regularization: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DropEdge (p=0.1) implemented during training phase.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09650" y="3823651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Dual Residuals: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Layer-1→2 (gradient flow) and Input→Post-L3 (signal preservation).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09650" y="4585651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Hybrid Readout: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Center node + Mean/Max pooling → 192-d vector.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09650" y="5347651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Post-hoc: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MLP head (192→64→2) with Temperature Scaling (T=1.077).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ARCHITECTURE CHANGES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376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996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0616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382365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58565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534765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0" y="163200"/>
            <a:ext cx="4345452" cy="64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581025" y="2090737"/>
            <a:ext cx="11029950" cy="3609975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17"/>
          <p:cNvGraphicFramePr/>
          <p:nvPr/>
        </p:nvGraphicFramePr>
        <p:xfrm>
          <a:off x="581025" y="2090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{0FC6C3C2-6301-4F43-99BE-7885BC93FA24}</a:tableStyleId>
              </a:tblPr>
              <a:tblGrid>
                <a:gridCol w="2543175"/>
                <a:gridCol w="2851100"/>
                <a:gridCol w="3386575"/>
                <a:gridCol w="2249100"/>
              </a:tblGrid>
              <a:tr h="5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38BDF8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Metric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38BDF8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v1.0.0 (</a:t>
                      </a:r>
                      <a:r>
                        <a:rPr b="0" lang="en-US" sz="1450">
                          <a:solidFill>
                            <a:srgbClr val="38BDF8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M</a:t>
                      </a:r>
                      <a:r>
                        <a:rPr b="0" i="0" lang="en-US" sz="1450" u="none" cap="none" strike="noStrike">
                          <a:solidFill>
                            <a:srgbClr val="38BDF8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38BDF8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Current (Post-changes)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50" u="none" cap="none" strike="noStrike">
                          <a:solidFill>
                            <a:srgbClr val="38BDF8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Absolute Gain</a:t>
                      </a:r>
                      <a:endParaRPr sz="18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  <a:tr h="5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7931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Accuracy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81.10%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88.39%</a:t>
                      </a:r>
                      <a:endParaRPr b="1"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+7.29%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  <a:tr h="5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7931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F1 (Criminal)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80.91%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88.64%</a:t>
                      </a:r>
                      <a:endParaRPr b="1"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+7.73%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  <a:tr h="5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7931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Recall (Criminal)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80.10%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91.29%</a:t>
                      </a:r>
                      <a:endParaRPr b="1"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+11.19%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  <a:tr h="5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7931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Precision (Benign)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80.49%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90.88%</a:t>
                      </a:r>
                      <a:endParaRPr b="1"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+10.39%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  <a:tr h="515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7931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ROC-AUC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88.78%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95.37%</a:t>
                      </a:r>
                      <a:endParaRPr b="1"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+6.59%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  <a:tr h="515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7931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PR-AUC</a:t>
                      </a:r>
                      <a:endParaRPr>
                        <a:solidFill>
                          <a:srgbClr val="F7931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88.31%</a:t>
                      </a:r>
                      <a:endParaRPr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B7B7B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95.17%</a:t>
                      </a:r>
                      <a:endParaRPr b="1">
                        <a:solidFill>
                          <a:srgbClr val="B7B7B7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2C55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+6.86%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3">
                        <a:alpha val="9772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17"/>
          <p:cNvSpPr/>
          <p:nvPr/>
        </p:nvSpPr>
        <p:spPr>
          <a:xfrm>
            <a:off x="581025" y="2552700"/>
            <a:ext cx="2543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124200" y="2552700"/>
            <a:ext cx="2851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975300" y="2552700"/>
            <a:ext cx="3386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361884" y="2552700"/>
            <a:ext cx="22490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581025" y="3076575"/>
            <a:ext cx="2543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3124200" y="3076575"/>
            <a:ext cx="2851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975300" y="3076575"/>
            <a:ext cx="3386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9361884" y="3076575"/>
            <a:ext cx="22490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81025" y="3600450"/>
            <a:ext cx="2543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3124200" y="3600450"/>
            <a:ext cx="2851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975300" y="3600450"/>
            <a:ext cx="3386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9361884" y="3600450"/>
            <a:ext cx="22490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1025" y="4124325"/>
            <a:ext cx="2543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3124200" y="4124325"/>
            <a:ext cx="2851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975300" y="4124325"/>
            <a:ext cx="3386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361884" y="4124325"/>
            <a:ext cx="22490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81025" y="4648200"/>
            <a:ext cx="2543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124200" y="4648200"/>
            <a:ext cx="2851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975300" y="4648200"/>
            <a:ext cx="3386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361884" y="4648200"/>
            <a:ext cx="22490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81025" y="5172075"/>
            <a:ext cx="2543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3124200" y="5172075"/>
            <a:ext cx="2851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975300" y="5172075"/>
            <a:ext cx="338658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361884" y="5172075"/>
            <a:ext cx="22490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METRICS COMPARISON - P</a:t>
            </a:r>
            <a:r>
              <a:rPr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OST MARATHON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SCORE DISTRIBUTION ANALYSIS</a:t>
            </a:r>
            <a:endParaRPr b="0" sz="36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1047750"/>
            <a:ext cx="1103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model exhibits strong class separation, effectively distinguishing criminal wallets from the baseline population.</a:t>
            </a:r>
            <a:endParaRPr b="0" sz="16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81025" y="1619250"/>
            <a:ext cx="7239000" cy="4762500"/>
          </a:xfrm>
          <a:prstGeom prst="roundRect">
            <a:avLst>
              <a:gd fmla="val 2400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-27146" l="0" r="-40607" t="0"/>
          <a:stretch/>
        </p:blipFill>
        <p:spPr>
          <a:xfrm>
            <a:off x="1619250" y="2124075"/>
            <a:ext cx="7239000" cy="4762500"/>
          </a:xfrm>
          <a:prstGeom prst="roundRect">
            <a:avLst>
              <a:gd fmla="val 2400" name="adj"/>
            </a:avLst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8096250" y="1619250"/>
            <a:ext cx="3524400" cy="4762500"/>
          </a:xfrm>
          <a:prstGeom prst="roundRect">
            <a:avLst>
              <a:gd fmla="val 3243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334375" y="1857375"/>
            <a:ext cx="30480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Key Insights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01. Bimodal Distribution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test set results show clear peaks at extreme ends, indicating high confidence in binary classifications.</a:t>
            </a:r>
            <a:endParaRPr b="0" sz="1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02. Probability Thresholds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Minimal overlap between classes at the 0.5 threshold suggests a highly discriminative feature space.</a:t>
            </a:r>
            <a:endParaRPr b="0" sz="1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03. Calibration Consistency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Per-sample scores align with density peaks, confirming the model's robustness across diverse wallet types.</a:t>
            </a:r>
            <a:endParaRPr b="0" sz="1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PERFORMANCE CURVE ANALYSIS</a:t>
            </a:r>
            <a:endParaRPr b="0" sz="36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1047750"/>
            <a:ext cx="1103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OptimalBitcoinGNN demonstrates exceptional discriminative power with high AUC scores across metrics.</a:t>
            </a:r>
            <a:endParaRPr b="0" sz="16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81025" y="1619250"/>
            <a:ext cx="7239000" cy="4762500"/>
          </a:xfrm>
          <a:prstGeom prst="roundRect">
            <a:avLst>
              <a:gd fmla="val 2400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096250" y="1619250"/>
            <a:ext cx="3524400" cy="4762500"/>
          </a:xfrm>
          <a:prstGeom prst="roundRect">
            <a:avLst>
              <a:gd fmla="val 3243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334375" y="1905000"/>
            <a:ext cx="30480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Key Performance Metrics</a:t>
            </a:r>
            <a:endParaRPr b="1" sz="1295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01. ROC Curve Excellence</a:t>
            </a:r>
            <a:endParaRPr b="1" sz="1295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95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ROC-AUC of 0.9537 indicates a very high true positive rate with minimal false positives, crucial for law enforcement.</a:t>
            </a:r>
            <a:endParaRPr b="0" sz="1295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02. Precision-Recall Stability</a:t>
            </a:r>
            <a:endParaRPr b="1" sz="1295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95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PR-AUC of 0.9517 shows the model maintains high precision even at high recall levels, outperforming the 0.50 baseline.</a:t>
            </a:r>
            <a:endParaRPr b="0" sz="1295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03. Imbalance Robustness</a:t>
            </a:r>
            <a:endParaRPr b="1" sz="1295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95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stability of the PR curve confirms that the model handles the inherent class imbalance of criminal vs. legitimate wallets effectively.</a:t>
            </a:r>
            <a:endParaRPr b="0" sz="1295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2575" y="2085103"/>
            <a:ext cx="6455900" cy="34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FEATURE IMPORTANCE ANALYSIS</a:t>
            </a:r>
            <a:endParaRPr b="0" sz="36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81025" y="1047750"/>
            <a:ext cx="11030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Transaction fees and share mean dominate the decision-making process for OptimalBitcoinGNN.</a:t>
            </a:r>
            <a:endParaRPr b="0" sz="16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81025" y="1619250"/>
            <a:ext cx="7239000" cy="4762500"/>
          </a:xfrm>
          <a:prstGeom prst="roundRect">
            <a:avLst>
              <a:gd fmla="val 2400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1653" r="1663" t="0"/>
          <a:stretch/>
        </p:blipFill>
        <p:spPr>
          <a:xfrm>
            <a:off x="581025" y="1619250"/>
            <a:ext cx="7239000" cy="4762500"/>
          </a:xfrm>
          <a:prstGeom prst="roundRect">
            <a:avLst>
              <a:gd fmla="val 2400" name="adj"/>
            </a:avLst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8096250" y="1619250"/>
            <a:ext cx="3524400" cy="4762500"/>
          </a:xfrm>
          <a:prstGeom prst="roundRect">
            <a:avLst>
              <a:gd fmla="val 3243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334375" y="1857375"/>
            <a:ext cx="30480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Key Insights</a:t>
            </a:r>
            <a:endParaRPr b="1" sz="14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01. Primary Drivers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top 2 features (fee_per_tx and fee_share_mean) account for over 68% of the model's predictive weight.</a:t>
            </a:r>
            <a:endParaRPr sz="1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02. Network Behavior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Wallet activity and transaction size emerge as secondary indicators, reflecting movement patterns of criminal entities.</a:t>
            </a:r>
            <a:endParaRPr sz="1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03. Statistical Gini</a:t>
            </a:r>
            <a:endParaRPr b="1" sz="1300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high concentration of importance suggests a robust but specialized signal for detecting illicit blockchain activity.</a:t>
            </a:r>
            <a:endParaRPr sz="14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567488"/>
            <a:ext cx="11030100" cy="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1009650" y="1444968"/>
            <a:ext cx="4896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Discrimination</a:t>
            </a: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: distinguish between categories</a:t>
            </a:r>
            <a:endParaRPr b="0" i="0" sz="1500" u="none" cap="none" strike="noStrike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 SemiBold"/>
              <a:buChar char="-"/>
            </a:pPr>
            <a:r>
              <a:rPr lang="en-US" sz="1500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metrics: F1 score, ROC-AUC</a:t>
            </a:r>
            <a:endParaRPr sz="1500"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 SemiBold"/>
              <a:buChar char="-"/>
            </a:pPr>
            <a:r>
              <a:rPr lang="en-US" sz="1500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Secondary metric: PR-AUC (more informative under class imbalance)</a:t>
            </a:r>
            <a:endParaRPr sz="1500"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009650" y="2979319"/>
            <a:ext cx="4896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Calibration: predicted probabilities reflect true outcom</a:t>
            </a: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</a:t>
            </a:r>
            <a:endParaRPr sz="15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 SemiBold"/>
              <a:buChar char="-"/>
            </a:pPr>
            <a:r>
              <a:rPr lang="en-US" sz="1500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metrics: Expected Calibration Error (ECE), Brier score</a:t>
            </a:r>
            <a:endParaRPr sz="1500"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 SemiBold"/>
              <a:buChar char="-"/>
            </a:pPr>
            <a:r>
              <a:rPr lang="en-US" sz="1500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Secondary metric: reliability diagram (visual sanity check)</a:t>
            </a:r>
            <a:endParaRPr sz="1500"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009650" y="4859887"/>
            <a:ext cx="4896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Generalization: performance on fresh wallets</a:t>
            </a:r>
            <a:endParaRPr sz="15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 SemiBold"/>
              <a:buChar char="-"/>
            </a:pPr>
            <a:r>
              <a:rPr lang="en-US" sz="1500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metrics: live precision@k, FPR and FNR delta vs. held-out test set</a:t>
            </a:r>
            <a:endParaRPr sz="1500"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 SemiBold"/>
              <a:buChar char="-"/>
            </a:pPr>
            <a:r>
              <a:rPr lang="en-US" sz="1500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Secondary metric: KS test for score distribution shift</a:t>
            </a:r>
            <a:endParaRPr sz="1500"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7070875" y="1444969"/>
            <a:ext cx="4896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Baseline Comparison</a:t>
            </a: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: </a:t>
            </a: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whether</a:t>
            </a:r>
            <a:r>
              <a:rPr b="0" i="0" lang="en-US" sz="1500" u="none" cap="none" strike="noStrik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complexity is justifie</a:t>
            </a: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</a:t>
            </a:r>
            <a:endParaRPr sz="15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Primary metrics: change in F1 and ROC-AUC using identical 12 features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Secondary metric: architecture ablations (remove ghost embedding, hybrid readout, DropEdge)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EVALUATION GOALS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4496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97926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8598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250" y="1444969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581025" y="1333500"/>
            <a:ext cx="11030100" cy="4626300"/>
          </a:xfrm>
          <a:prstGeom prst="roundRect">
            <a:avLst>
              <a:gd fmla="val 3076" name="adj"/>
            </a:avLst>
          </a:prstGeom>
          <a:solidFill>
            <a:srgbClr val="1E293B">
              <a:alpha val="40000"/>
            </a:srgbClr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BENCHMARK RESULTS SUMMARY</a:t>
            </a:r>
            <a:endParaRPr b="0" sz="36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581025" y="1428738"/>
            <a:ext cx="11029950" cy="571500"/>
            <a:chOff x="581025" y="1714500"/>
            <a:chExt cx="11029950" cy="571500"/>
          </a:xfrm>
        </p:grpSpPr>
        <p:sp>
          <p:nvSpPr>
            <p:cNvPr id="209" name="Google Shape;209;p22"/>
            <p:cNvSpPr/>
            <p:nvPr/>
          </p:nvSpPr>
          <p:spPr>
            <a:xfrm>
              <a:off x="581025" y="1714500"/>
              <a:ext cx="23814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 txBox="1"/>
            <p:nvPr/>
          </p:nvSpPr>
          <p:spPr>
            <a:xfrm>
              <a:off x="771525" y="1714500"/>
              <a:ext cx="2000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highlight>
                    <a:srgbClr val="1E293B"/>
                  </a:highlight>
                  <a:latin typeface="Urbanist"/>
                  <a:ea typeface="Urbanist"/>
                  <a:cs typeface="Urbanist"/>
                  <a:sym typeface="Urbanist"/>
                </a:rPr>
                <a:t>Metric</a:t>
              </a:r>
              <a:endParaRPr b="1" sz="1400">
                <a:solidFill>
                  <a:srgbClr val="38BDF8"/>
                </a:solidFill>
                <a:highlight>
                  <a:srgbClr val="1E293B"/>
                </a:highlight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2962275" y="1714500"/>
              <a:ext cx="2857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2"/>
            <p:cNvSpPr txBox="1"/>
            <p:nvPr/>
          </p:nvSpPr>
          <p:spPr>
            <a:xfrm>
              <a:off x="2962275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highlight>
                    <a:srgbClr val="1E293B"/>
                  </a:highlight>
                  <a:latin typeface="Urbanist"/>
                  <a:ea typeface="Urbanist"/>
                  <a:cs typeface="Urbanist"/>
                  <a:sym typeface="Urbanist"/>
                </a:rPr>
                <a:t>OptimalGNN (Ours)</a:t>
              </a:r>
              <a:endParaRPr b="1" sz="1400">
                <a:solidFill>
                  <a:srgbClr val="38BDF8"/>
                </a:solidFill>
                <a:highlight>
                  <a:srgbClr val="1E293B"/>
                </a:highlight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5819775" y="1714500"/>
              <a:ext cx="28575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5819775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highlight>
                    <a:srgbClr val="1E293B"/>
                  </a:highlight>
                  <a:latin typeface="Urbanist"/>
                  <a:ea typeface="Urbanist"/>
                  <a:cs typeface="Urbanist"/>
                  <a:sym typeface="Urbanist"/>
                </a:rPr>
                <a:t>XGBoost Baseline</a:t>
              </a:r>
              <a:endParaRPr b="1" sz="1400">
                <a:solidFill>
                  <a:srgbClr val="38BDF8"/>
                </a:solidFill>
                <a:highlight>
                  <a:srgbClr val="1E293B"/>
                </a:highlight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8677275" y="1714500"/>
              <a:ext cx="2933700" cy="571500"/>
            </a:xfrm>
            <a:prstGeom prst="roundRect">
              <a:avLst>
                <a:gd fmla="val 2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2"/>
            <p:cNvSpPr txBox="1"/>
            <p:nvPr/>
          </p:nvSpPr>
          <p:spPr>
            <a:xfrm>
              <a:off x="8677275" y="1714500"/>
              <a:ext cx="2933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highlight>
                    <a:srgbClr val="1E293B"/>
                  </a:highlight>
                  <a:latin typeface="Urbanist"/>
                  <a:ea typeface="Urbanist"/>
                  <a:cs typeface="Urbanist"/>
                  <a:sym typeface="Urbanist"/>
                </a:rPr>
                <a:t>Basic GCN</a:t>
              </a:r>
              <a:endParaRPr b="1" sz="1400">
                <a:solidFill>
                  <a:srgbClr val="38BDF8"/>
                </a:solidFill>
                <a:highlight>
                  <a:srgbClr val="1E293B"/>
                </a:highlight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17" name="Google Shape;217;p22"/>
          <p:cNvCxnSpPr/>
          <p:nvPr/>
        </p:nvCxnSpPr>
        <p:spPr>
          <a:xfrm>
            <a:off x="581025" y="247650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8" name="Google Shape;218;p22"/>
          <p:cNvGrpSpPr/>
          <p:nvPr/>
        </p:nvGrpSpPr>
        <p:grpSpPr>
          <a:xfrm>
            <a:off x="771525" y="2000250"/>
            <a:ext cx="10839450" cy="476400"/>
            <a:chOff x="771525" y="1428750"/>
            <a:chExt cx="10839450" cy="476400"/>
          </a:xfrm>
        </p:grpSpPr>
        <p:sp>
          <p:nvSpPr>
            <p:cNvPr id="219" name="Google Shape;219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Accuracy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88.39%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72.98%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82.52%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23" name="Google Shape;223;p22"/>
          <p:cNvCxnSpPr/>
          <p:nvPr/>
        </p:nvCxnSpPr>
        <p:spPr>
          <a:xfrm>
            <a:off x="581025" y="295275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4" name="Google Shape;224;p22"/>
          <p:cNvGrpSpPr/>
          <p:nvPr/>
        </p:nvGrpSpPr>
        <p:grpSpPr>
          <a:xfrm>
            <a:off x="771525" y="2476500"/>
            <a:ext cx="10839450" cy="476400"/>
            <a:chOff x="771525" y="1428750"/>
            <a:chExt cx="10839450" cy="476400"/>
          </a:xfrm>
        </p:grpSpPr>
        <p:sp>
          <p:nvSpPr>
            <p:cNvPr id="225" name="Google Shape;225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F1-Score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0.8864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0.8240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0.7520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29" name="Google Shape;229;p22"/>
          <p:cNvCxnSpPr/>
          <p:nvPr/>
        </p:nvCxnSpPr>
        <p:spPr>
          <a:xfrm>
            <a:off x="581025" y="342900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0" name="Google Shape;230;p22"/>
          <p:cNvGrpSpPr/>
          <p:nvPr/>
        </p:nvGrpSpPr>
        <p:grpSpPr>
          <a:xfrm>
            <a:off x="771525" y="2952750"/>
            <a:ext cx="10839450" cy="476400"/>
            <a:chOff x="771525" y="1428750"/>
            <a:chExt cx="10839450" cy="476400"/>
          </a:xfrm>
        </p:grpSpPr>
        <p:sp>
          <p:nvSpPr>
            <p:cNvPr id="231" name="Google Shape;231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Precision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86.14%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82.34%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69.05%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35" name="Google Shape;235;p22"/>
          <p:cNvCxnSpPr/>
          <p:nvPr/>
        </p:nvCxnSpPr>
        <p:spPr>
          <a:xfrm>
            <a:off x="581025" y="390525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6" name="Google Shape;236;p22"/>
          <p:cNvGrpSpPr/>
          <p:nvPr/>
        </p:nvGrpSpPr>
        <p:grpSpPr>
          <a:xfrm>
            <a:off x="771525" y="3429000"/>
            <a:ext cx="10839450" cy="476400"/>
            <a:chOff x="771525" y="1428750"/>
            <a:chExt cx="10839450" cy="476400"/>
          </a:xfrm>
        </p:grpSpPr>
        <p:sp>
          <p:nvSpPr>
            <p:cNvPr id="237" name="Google Shape;237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Recall (Sensitivity)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91.29%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39" name="Google Shape;239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82.45%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40" name="Google Shape;240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82.54%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41" name="Google Shape;241;p22"/>
          <p:cNvCxnSpPr/>
          <p:nvPr/>
        </p:nvCxnSpPr>
        <p:spPr>
          <a:xfrm>
            <a:off x="581025" y="438150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2" name="Google Shape;242;p22"/>
          <p:cNvGrpSpPr/>
          <p:nvPr/>
        </p:nvGrpSpPr>
        <p:grpSpPr>
          <a:xfrm>
            <a:off x="771525" y="3905250"/>
            <a:ext cx="10839450" cy="476400"/>
            <a:chOff x="771525" y="1428750"/>
            <a:chExt cx="10839450" cy="476400"/>
          </a:xfrm>
        </p:grpSpPr>
        <p:sp>
          <p:nvSpPr>
            <p:cNvPr id="243" name="Google Shape;243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ROC-AUC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44" name="Google Shape;244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0.9537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45" name="Google Shape;245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0.9085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0.8199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47" name="Google Shape;247;p22"/>
          <p:cNvCxnSpPr/>
          <p:nvPr/>
        </p:nvCxnSpPr>
        <p:spPr>
          <a:xfrm>
            <a:off x="581025" y="485775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8" name="Google Shape;248;p22"/>
          <p:cNvGrpSpPr/>
          <p:nvPr/>
        </p:nvGrpSpPr>
        <p:grpSpPr>
          <a:xfrm>
            <a:off x="771525" y="4381500"/>
            <a:ext cx="10839450" cy="476400"/>
            <a:chOff x="771525" y="1428750"/>
            <a:chExt cx="10839450" cy="476400"/>
          </a:xfrm>
        </p:grpSpPr>
        <p:sp>
          <p:nvSpPr>
            <p:cNvPr id="249" name="Google Shape;249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PR-AUC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0.9517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0.9074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0.8150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cxnSp>
        <p:nvCxnSpPr>
          <p:cNvPr id="253" name="Google Shape;253;p22"/>
          <p:cNvCxnSpPr/>
          <p:nvPr/>
        </p:nvCxnSpPr>
        <p:spPr>
          <a:xfrm>
            <a:off x="581025" y="5334000"/>
            <a:ext cx="110301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4" name="Google Shape;254;p22"/>
          <p:cNvGrpSpPr/>
          <p:nvPr/>
        </p:nvGrpSpPr>
        <p:grpSpPr>
          <a:xfrm>
            <a:off x="771525" y="4857750"/>
            <a:ext cx="10839450" cy="476400"/>
            <a:chOff x="771525" y="1428750"/>
            <a:chExt cx="10839450" cy="476400"/>
          </a:xfrm>
        </p:grpSpPr>
        <p:sp>
          <p:nvSpPr>
            <p:cNvPr id="255" name="Google Shape;255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Brier Score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0.0881</a:t>
              </a:r>
              <a:endParaRPr b="1" sz="14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7" name="Google Shape;257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0.1231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0.1773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59" name="Google Shape;259;p22"/>
          <p:cNvGrpSpPr/>
          <p:nvPr/>
        </p:nvGrpSpPr>
        <p:grpSpPr>
          <a:xfrm>
            <a:off x="771525" y="5334000"/>
            <a:ext cx="10839450" cy="476400"/>
            <a:chOff x="771525" y="1428750"/>
            <a:chExt cx="10839450" cy="476400"/>
          </a:xfrm>
        </p:grpSpPr>
        <p:sp>
          <p:nvSpPr>
            <p:cNvPr id="260" name="Google Shape;260;p22"/>
            <p:cNvSpPr txBox="1"/>
            <p:nvPr/>
          </p:nvSpPr>
          <p:spPr>
            <a:xfrm>
              <a:off x="771525" y="1428750"/>
              <a:ext cx="21909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ECE (Calibration</a:t>
              </a:r>
              <a:r>
                <a:rPr lang="en-US" sz="13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)</a:t>
              </a:r>
              <a:endParaRPr b="0" sz="13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29622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0.0550</a:t>
              </a:r>
              <a:endParaRPr b="1" sz="14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62" name="Google Shape;262;p22"/>
            <p:cNvSpPr txBox="1"/>
            <p:nvPr/>
          </p:nvSpPr>
          <p:spPr>
            <a:xfrm>
              <a:off x="5819775" y="1428750"/>
              <a:ext cx="2857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0.0269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63" name="Google Shape;263;p22"/>
            <p:cNvSpPr txBox="1"/>
            <p:nvPr/>
          </p:nvSpPr>
          <p:spPr>
            <a:xfrm>
              <a:off x="8677275" y="1428750"/>
              <a:ext cx="2933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0.0463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/>
        </p:nvSpPr>
        <p:spPr>
          <a:xfrm>
            <a:off x="1009650" y="1444975"/>
            <a:ext cx="4896000" cy="4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Models compared:</a:t>
            </a:r>
            <a:endParaRPr b="0" i="0" sz="1500" u="none" cap="none" strike="noStrike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 SemiBold"/>
              <a:buAutoNum type="arabicPeriod"/>
            </a:pPr>
            <a:r>
              <a:rPr b="1" lang="en-US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OptimalBitcoinGNN (ours)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 SemiBold"/>
              <a:buChar char="●"/>
            </a:pPr>
            <a: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3-layer GATv2, 12 input features, hybrid readout, temperature scaling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 SemiBold"/>
              <a:buAutoNum type="arabicPeriod"/>
            </a:pPr>
            <a:r>
              <a:rPr b="1" lang="en-US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XGBoost baseline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 SemiBold"/>
              <a:buChar char="●"/>
            </a:pPr>
            <a: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Same 12 features, no graph structure (tabular only)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 SemiBold"/>
              <a:buChar char="●"/>
            </a:pPr>
            <a: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Serves as a fast, strong baseline we must</a:t>
            </a:r>
            <a:b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</a:br>
            <a: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outperform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"/>
              <a:buAutoNum type="arabicPeriod"/>
            </a:pPr>
            <a:r>
              <a:rPr b="1" lang="en-US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GNN Basline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"/>
              <a:buChar char="●"/>
            </a:pPr>
            <a: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Without ghost-node embedding (neighbors have zero features)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Urbanist"/>
              <a:buChar char="●"/>
            </a:pPr>
            <a:r>
              <a:rPr lang="en-US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Without input-to-final residual connection</a:t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4A3B8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7070875" y="1444969"/>
            <a:ext cx="48960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Training Setup (our model)</a:t>
            </a:r>
            <a:endParaRPr sz="15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Optimizer: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AdamW (learning rate 1e-3, weight decay 1e-4)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Loss: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cross-entropy 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Batch size: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64 ego-graphs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Early stopping: 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patience of 20 epochs based on validation F1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Urbanist"/>
              <a:buChar char="-"/>
            </a:pPr>
            <a:r>
              <a:rPr b="1"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Best checkpoint: 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epoch 85 (validation F1 = 0.8794)</a:t>
            </a:r>
            <a:endParaRPr sz="15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EXPERIMENT SETUP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444968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250" y="1444969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TECHNICAL CHALLENGES &amp; LIMITATIONS</a:t>
            </a:r>
            <a:endParaRPr b="0" sz="36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277" name="Google Shape;277;p24"/>
          <p:cNvGrpSpPr/>
          <p:nvPr/>
        </p:nvGrpSpPr>
        <p:grpSpPr>
          <a:xfrm>
            <a:off x="581025" y="1619250"/>
            <a:ext cx="3524400" cy="4762500"/>
            <a:chOff x="0" y="0"/>
            <a:chExt cx="3524400" cy="4762500"/>
          </a:xfrm>
        </p:grpSpPr>
        <p:sp>
          <p:nvSpPr>
            <p:cNvPr id="278" name="Google Shape;278;p24"/>
            <p:cNvSpPr/>
            <p:nvPr/>
          </p:nvSpPr>
          <p:spPr>
            <a:xfrm>
              <a:off x="0" y="0"/>
              <a:ext cx="3524400" cy="4762500"/>
            </a:xfrm>
            <a:prstGeom prst="roundRect">
              <a:avLst>
                <a:gd fmla="val 3243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 txBox="1"/>
            <p:nvPr/>
          </p:nvSpPr>
          <p:spPr>
            <a:xfrm>
              <a:off x="238125" y="285750"/>
              <a:ext cx="3048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Data Acquisition Bottlenecks</a:t>
              </a:r>
              <a:endParaRPr b="0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API Rate Limits: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mempool.space capped at </a:t>
              </a:r>
              <a:r>
                <a:rPr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1 req every 2 sec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Incomplete Dataset: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Only ~38k of 86k training graphs downloaded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Full Retrain Blocked: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Insufficient data for final optimization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80" name="Google Shape;280;p24"/>
          <p:cNvGrpSpPr/>
          <p:nvPr/>
        </p:nvGrpSpPr>
        <p:grpSpPr>
          <a:xfrm>
            <a:off x="4333875" y="1619250"/>
            <a:ext cx="3524400" cy="4762500"/>
            <a:chOff x="0" y="0"/>
            <a:chExt cx="3524400" cy="4762500"/>
          </a:xfrm>
        </p:grpSpPr>
        <p:sp>
          <p:nvSpPr>
            <p:cNvPr id="281" name="Google Shape;281;p24"/>
            <p:cNvSpPr/>
            <p:nvPr/>
          </p:nvSpPr>
          <p:spPr>
            <a:xfrm>
              <a:off x="0" y="0"/>
              <a:ext cx="3524400" cy="4762500"/>
            </a:xfrm>
            <a:prstGeom prst="roundRect">
              <a:avLst>
                <a:gd fmla="val 3243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4"/>
            <p:cNvSpPr txBox="1"/>
            <p:nvPr/>
          </p:nvSpPr>
          <p:spPr>
            <a:xfrm>
              <a:off x="238125" y="285750"/>
              <a:ext cx="3048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Miscalibration &amp; Signal Loss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T-Scaling Inefficacy: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Temperature barely moved (T=1.077)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Weak Per-Neighbor Signal: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Ghost nodes lack rea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l features; reliant on edge attention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83" name="Google Shape;283;p24"/>
          <p:cNvGrpSpPr/>
          <p:nvPr/>
        </p:nvGrpSpPr>
        <p:grpSpPr>
          <a:xfrm>
            <a:off x="8086725" y="1619250"/>
            <a:ext cx="3524400" cy="4762500"/>
            <a:chOff x="0" y="0"/>
            <a:chExt cx="3524400" cy="4762500"/>
          </a:xfrm>
        </p:grpSpPr>
        <p:sp>
          <p:nvSpPr>
            <p:cNvPr id="284" name="Google Shape;284;p24"/>
            <p:cNvSpPr/>
            <p:nvPr/>
          </p:nvSpPr>
          <p:spPr>
            <a:xfrm>
              <a:off x="0" y="0"/>
              <a:ext cx="3524400" cy="4762500"/>
            </a:xfrm>
            <a:prstGeom prst="roundRect">
              <a:avLst>
                <a:gd fmla="val 3243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 txBox="1"/>
            <p:nvPr/>
          </p:nvSpPr>
          <p:spPr>
            <a:xfrm>
              <a:off x="238125" y="285750"/>
              <a:ext cx="30480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7931A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Production &amp; Diversity Risks</a:t>
              </a:r>
              <a:endParaRPr b="0" sz="15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Evaluation Gap: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No live-wallet or production address testing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Distribution Shift: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High risk due to curated training data vs diverse live wallets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94A3B8"/>
                </a:buClr>
                <a:buSzPts val="1300"/>
                <a:buFont typeface="Urbanist"/>
                <a:buChar char="●"/>
              </a:pPr>
              <a:r>
                <a:rPr b="1" lang="en-US" sz="13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Depth Limitations:</a:t>
              </a:r>
              <a:r>
                <a:rPr b="0" lang="en-US" sz="13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Per-neighbor signal weaker than full depth-2 ego graphs</a:t>
              </a:r>
              <a:endParaRPr b="0" sz="13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TIMELINE &amp; SUBMISSION</a:t>
            </a:r>
            <a:endParaRPr b="0" sz="360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291" name="Google Shape;291;p25"/>
          <p:cNvGrpSpPr/>
          <p:nvPr/>
        </p:nvGrpSpPr>
        <p:grpSpPr>
          <a:xfrm>
            <a:off x="581025" y="1543050"/>
            <a:ext cx="11030100" cy="152400"/>
            <a:chOff x="0" y="19050"/>
            <a:chExt cx="11030100" cy="152400"/>
          </a:xfrm>
        </p:grpSpPr>
        <p:pic>
          <p:nvPicPr>
            <p:cNvPr id="292" name="Google Shape;29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85725"/>
              <a:ext cx="110301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3" name="Google Shape;293;p25"/>
            <p:cNvSpPr/>
            <p:nvPr/>
          </p:nvSpPr>
          <p:spPr>
            <a:xfrm>
              <a:off x="38100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1609725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3181350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4752975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6324600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7896225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9467850" y="38100"/>
              <a:ext cx="114300" cy="114300"/>
            </a:xfrm>
            <a:prstGeom prst="ellipse">
              <a:avLst/>
            </a:prstGeom>
            <a:solidFill>
              <a:srgbClr val="F793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10858500" y="19050"/>
              <a:ext cx="152400" cy="1524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25"/>
          <p:cNvGrpSpPr/>
          <p:nvPr/>
        </p:nvGrpSpPr>
        <p:grpSpPr>
          <a:xfrm>
            <a:off x="581025" y="1905000"/>
            <a:ext cx="1428900" cy="2857500"/>
            <a:chOff x="581025" y="1905000"/>
            <a:chExt cx="1428900" cy="2857500"/>
          </a:xfrm>
        </p:grpSpPr>
        <p:sp>
          <p:nvSpPr>
            <p:cNvPr id="302" name="Google Shape;302;p25"/>
            <p:cNvSpPr/>
            <p:nvPr/>
          </p:nvSpPr>
          <p:spPr>
            <a:xfrm>
              <a:off x="581025" y="1905000"/>
              <a:ext cx="1428900" cy="2857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 txBox="1"/>
            <p:nvPr/>
          </p:nvSpPr>
          <p:spPr>
            <a:xfrm>
              <a:off x="676275" y="2000250"/>
              <a:ext cx="123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1</a:t>
              </a:r>
              <a:endParaRPr b="0" sz="1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Data Completion</a:t>
              </a:r>
              <a:endParaRPr b="1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Finish graph downloads (~38k to 86k training graphs)</a:t>
              </a:r>
              <a:endParaRPr b="0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Meeting with project instructor for </a:t>
              </a:r>
              <a:r>
                <a:rPr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advice</a:t>
              </a:r>
              <a:endParaRPr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4" name="Google Shape;304;p25"/>
          <p:cNvGrpSpPr/>
          <p:nvPr/>
        </p:nvGrpSpPr>
        <p:grpSpPr>
          <a:xfrm>
            <a:off x="2152650" y="1905000"/>
            <a:ext cx="1428900" cy="2857500"/>
            <a:chOff x="2152650" y="1905000"/>
            <a:chExt cx="1428900" cy="2857500"/>
          </a:xfrm>
        </p:grpSpPr>
        <p:sp>
          <p:nvSpPr>
            <p:cNvPr id="305" name="Google Shape;305;p25"/>
            <p:cNvSpPr/>
            <p:nvPr/>
          </p:nvSpPr>
          <p:spPr>
            <a:xfrm>
              <a:off x="2152650" y="1905000"/>
              <a:ext cx="1428900" cy="2857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5"/>
            <p:cNvSpPr txBox="1"/>
            <p:nvPr/>
          </p:nvSpPr>
          <p:spPr>
            <a:xfrm>
              <a:off x="2247900" y="2000250"/>
              <a:ext cx="123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2</a:t>
              </a:r>
              <a:endParaRPr b="0" sz="1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Model Retraining</a:t>
              </a:r>
              <a:endParaRPr b="1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Retrain GNN on full dataset</a:t>
              </a:r>
              <a:endParaRPr b="0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07" name="Google Shape;307;p25"/>
          <p:cNvGrpSpPr/>
          <p:nvPr/>
        </p:nvGrpSpPr>
        <p:grpSpPr>
          <a:xfrm>
            <a:off x="3724275" y="1905000"/>
            <a:ext cx="1428900" cy="2857500"/>
            <a:chOff x="3724275" y="1905000"/>
            <a:chExt cx="1428900" cy="2857500"/>
          </a:xfrm>
        </p:grpSpPr>
        <p:sp>
          <p:nvSpPr>
            <p:cNvPr id="308" name="Google Shape;308;p25"/>
            <p:cNvSpPr/>
            <p:nvPr/>
          </p:nvSpPr>
          <p:spPr>
            <a:xfrm>
              <a:off x="3724275" y="1905000"/>
              <a:ext cx="1428900" cy="2857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 txBox="1"/>
            <p:nvPr/>
          </p:nvSpPr>
          <p:spPr>
            <a:xfrm>
              <a:off x="3819525" y="2000250"/>
              <a:ext cx="123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3</a:t>
              </a:r>
              <a:endParaRPr b="0" sz="1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Attempt L</a:t>
              </a:r>
              <a:r>
                <a:rPr b="1" lang="en-US" sz="14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ive-Wallet Eval</a:t>
              </a:r>
              <a:endParaRPr b="1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Build eval set (200 addresses) + measure precision@k</a:t>
              </a:r>
              <a:endParaRPr b="0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10" name="Google Shape;310;p25"/>
          <p:cNvGrpSpPr/>
          <p:nvPr/>
        </p:nvGrpSpPr>
        <p:grpSpPr>
          <a:xfrm>
            <a:off x="5295900" y="1905000"/>
            <a:ext cx="1428900" cy="2857500"/>
            <a:chOff x="5295900" y="1905000"/>
            <a:chExt cx="1428900" cy="2857500"/>
          </a:xfrm>
        </p:grpSpPr>
        <p:sp>
          <p:nvSpPr>
            <p:cNvPr id="311" name="Google Shape;311;p25"/>
            <p:cNvSpPr/>
            <p:nvPr/>
          </p:nvSpPr>
          <p:spPr>
            <a:xfrm>
              <a:off x="5295900" y="1905000"/>
              <a:ext cx="1428900" cy="2857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 txBox="1"/>
            <p:nvPr/>
          </p:nvSpPr>
          <p:spPr>
            <a:xfrm>
              <a:off x="5391150" y="2000250"/>
              <a:ext cx="123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4</a:t>
              </a:r>
              <a:endParaRPr b="0" sz="1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Deployment</a:t>
              </a:r>
              <a:endParaRPr b="1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Deploy backend + frontend to university server</a:t>
              </a:r>
              <a:endParaRPr b="0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13" name="Google Shape;313;p25"/>
          <p:cNvGrpSpPr/>
          <p:nvPr/>
        </p:nvGrpSpPr>
        <p:grpSpPr>
          <a:xfrm>
            <a:off x="6867525" y="1905000"/>
            <a:ext cx="1428900" cy="2857500"/>
            <a:chOff x="6867525" y="1905000"/>
            <a:chExt cx="1428900" cy="2857500"/>
          </a:xfrm>
        </p:grpSpPr>
        <p:sp>
          <p:nvSpPr>
            <p:cNvPr id="314" name="Google Shape;314;p25"/>
            <p:cNvSpPr/>
            <p:nvPr/>
          </p:nvSpPr>
          <p:spPr>
            <a:xfrm>
              <a:off x="6867525" y="1905000"/>
              <a:ext cx="1428900" cy="2857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5"/>
            <p:cNvSpPr txBox="1"/>
            <p:nvPr/>
          </p:nvSpPr>
          <p:spPr>
            <a:xfrm>
              <a:off x="6962775" y="2000250"/>
              <a:ext cx="123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5</a:t>
              </a:r>
              <a:endParaRPr b="0" sz="1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Release &amp; Report</a:t>
              </a:r>
              <a:endParaRPr b="1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 write detailed evaluation report</a:t>
              </a:r>
              <a:endParaRPr b="0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16" name="Google Shape;316;p25"/>
          <p:cNvGrpSpPr/>
          <p:nvPr/>
        </p:nvGrpSpPr>
        <p:grpSpPr>
          <a:xfrm>
            <a:off x="8439150" y="1905000"/>
            <a:ext cx="1428900" cy="2857500"/>
            <a:chOff x="8439150" y="1905000"/>
            <a:chExt cx="1428900" cy="2857500"/>
          </a:xfrm>
        </p:grpSpPr>
        <p:sp>
          <p:nvSpPr>
            <p:cNvPr id="317" name="Google Shape;317;p25"/>
            <p:cNvSpPr/>
            <p:nvPr/>
          </p:nvSpPr>
          <p:spPr>
            <a:xfrm>
              <a:off x="8439150" y="1905000"/>
              <a:ext cx="1428900" cy="2857500"/>
            </a:xfrm>
            <a:prstGeom prst="roundRect">
              <a:avLst>
                <a:gd fmla="val 8000" name="adj"/>
              </a:avLst>
            </a:prstGeom>
            <a:solidFill>
              <a:srgbClr val="1E293B">
                <a:alpha val="4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 txBox="1"/>
            <p:nvPr/>
          </p:nvSpPr>
          <p:spPr>
            <a:xfrm>
              <a:off x="8534400" y="2000250"/>
              <a:ext cx="1238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6</a:t>
              </a:r>
              <a:endParaRPr b="0" sz="110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Final Prep</a:t>
              </a:r>
              <a:endParaRPr b="1" sz="14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Build final slide deck</a:t>
              </a:r>
              <a:endParaRPr b="0" sz="12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19" name="Google Shape;319;p25"/>
          <p:cNvGrpSpPr/>
          <p:nvPr/>
        </p:nvGrpSpPr>
        <p:grpSpPr>
          <a:xfrm>
            <a:off x="10010775" y="1905000"/>
            <a:ext cx="1600200" cy="2857500"/>
            <a:chOff x="10010775" y="1905000"/>
            <a:chExt cx="1600200" cy="2857500"/>
          </a:xfrm>
        </p:grpSpPr>
        <p:sp>
          <p:nvSpPr>
            <p:cNvPr id="320" name="Google Shape;320;p25"/>
            <p:cNvSpPr/>
            <p:nvPr/>
          </p:nvSpPr>
          <p:spPr>
            <a:xfrm>
              <a:off x="10010775" y="1905000"/>
              <a:ext cx="1600200" cy="2857500"/>
            </a:xfrm>
            <a:prstGeom prst="roundRect">
              <a:avLst>
                <a:gd fmla="val 7142" name="adj"/>
              </a:avLst>
            </a:prstGeom>
            <a:solidFill>
              <a:srgbClr val="1E293B">
                <a:alpha val="60000"/>
              </a:srgbClr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 txBox="1"/>
            <p:nvPr/>
          </p:nvSpPr>
          <p:spPr>
            <a:xfrm>
              <a:off x="10106025" y="2000250"/>
              <a:ext cx="1409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WEEK 7</a:t>
              </a:r>
              <a:endParaRPr b="0" sz="110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8BDF8"/>
                  </a:solidFill>
                  <a:latin typeface="Urbanist"/>
                  <a:ea typeface="Urbanist"/>
                  <a:cs typeface="Urbanist"/>
                  <a:sym typeface="Urbanist"/>
                </a:rPr>
                <a:t>Buffer &amp; Polish</a:t>
              </a:r>
              <a:endParaRPr b="1" sz="14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Buffer week for polish + dry runs</a:t>
              </a:r>
              <a:endParaRPr b="0" sz="12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322" name="Google Shape;322;p25"/>
          <p:cNvGrpSpPr/>
          <p:nvPr/>
        </p:nvGrpSpPr>
        <p:grpSpPr>
          <a:xfrm>
            <a:off x="581025" y="5143500"/>
            <a:ext cx="11030100" cy="1143000"/>
            <a:chOff x="0" y="0"/>
            <a:chExt cx="11030100" cy="1143000"/>
          </a:xfrm>
        </p:grpSpPr>
        <p:sp>
          <p:nvSpPr>
            <p:cNvPr id="323" name="Google Shape;323;p25"/>
            <p:cNvSpPr/>
            <p:nvPr/>
          </p:nvSpPr>
          <p:spPr>
            <a:xfrm>
              <a:off x="0" y="0"/>
              <a:ext cx="11030100" cy="1143000"/>
            </a:xfrm>
            <a:prstGeom prst="roundRect">
              <a:avLst>
                <a:gd fmla="val 12500" name="adj"/>
              </a:avLst>
            </a:prstGeom>
            <a:solidFill>
              <a:srgbClr val="1E293B">
                <a:alpha val="80000"/>
              </a:srgbClr>
            </a:solidFill>
            <a:ln cap="flat" cmpd="sng" w="9525">
              <a:solidFill>
                <a:srgbClr val="F793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5"/>
            <p:cNvSpPr txBox="1"/>
            <p:nvPr/>
          </p:nvSpPr>
          <p:spPr>
            <a:xfrm>
              <a:off x="285750" y="19050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7931A"/>
                  </a:solidFill>
                  <a:latin typeface="Urbanist"/>
                  <a:ea typeface="Urbanist"/>
                  <a:cs typeface="Urbanist"/>
                  <a:sym typeface="Urbanist"/>
                </a:rPr>
                <a:t>FINAL SUBMISSION: JUNE 25</a:t>
              </a:r>
              <a:endParaRPr b="1" sz="1800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