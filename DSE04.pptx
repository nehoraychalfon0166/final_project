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7" r:id="rId2"/>
    <p:sldId id="256" r:id="rId3"/>
    <p:sldId id="257" r:id="rId4"/>
    <p:sldId id="258" r:id="rId5"/>
    <p:sldId id="259" r:id="rId6"/>
    <p:sldId id="260" r:id="rId7"/>
    <p:sldId id="268" r:id="rId8"/>
    <p:sldId id="262" r:id="rId9"/>
    <p:sldId id="263" r:id="rId10"/>
    <p:sldId id="269" r:id="rId11"/>
    <p:sldId id="264" r:id="rId12"/>
    <p:sldId id="271" r:id="rId13"/>
    <p:sldId id="265" r:id="rId14"/>
    <p:sldId id="266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00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B871A-4110-4349-9D1B-658E9C8C5E9B}" type="datetimeFigureOut">
              <a:rPr lang="en-IL" smtClean="0"/>
              <a:t>18/06/2026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825D0-A896-994B-B583-9BB0617E0D1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46938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horayChalfon0166/final_project.g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4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063" y="130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581025" y="583589"/>
            <a:ext cx="11581500" cy="17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Detecting </a:t>
            </a:r>
            <a:r>
              <a:rPr lang="en-US" sz="5400" b="0" i="0" u="none" strike="noStrike" cap="none">
                <a:solidFill>
                  <a:srgbClr val="F7931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Criminal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0" i="0" u="none" strike="noStrike" cap="none">
                <a:solidFill>
                  <a:srgbClr val="F8FAFC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Wallets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581025" y="3326010"/>
            <a:ext cx="53244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STUDENTS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581025" y="5288160"/>
            <a:ext cx="53244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Group 4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6677025" y="3326010"/>
            <a:ext cx="4933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INSTRUCTOR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6677025" y="3821310"/>
            <a:ext cx="4934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Ofer Zevin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6690088" y="4501123"/>
            <a:ext cx="493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rgbClr val="38BDF8"/>
                </a:solidFill>
                <a:uFill>
                  <a:noFill/>
                </a:uFill>
                <a:latin typeface="Urbanist SemiBold"/>
                <a:ea typeface="Urbanist SemiBold"/>
                <a:cs typeface="Urbanist SemiBold"/>
                <a:sym typeface="Urbanist Semi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581025" y="3707010"/>
            <a:ext cx="53244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Nehoray Chalfon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81025" y="4202310"/>
            <a:ext cx="53244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Ori Sinvani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81025" y="4697610"/>
            <a:ext cx="53244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Harel Brener</a:t>
            </a:r>
            <a:endParaRPr/>
          </a:p>
        </p:txBody>
      </p:sp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0899" y="4516635"/>
            <a:ext cx="161925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BITCOIN IN NUMBERS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$1.2T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market capitalization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629400" y="18288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8BDF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25M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675120" y="2743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</a:rPr>
              <a:t>Active wallets on the blockchain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56616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68680" y="37947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545K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14400" y="4709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transactions every single day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356616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6629400" y="37947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8BDF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$14.8B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675120" y="4709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moved on-chain every 24 hours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868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$154B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521208" y="23317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received by illicit crypto addresses in 2025 alone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21208" y="31546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Every Bitcoin transaction is </a:t>
            </a:r>
            <a:r>
              <a:rPr lang="en-US" sz="2400" b="1" dirty="0">
                <a:solidFill>
                  <a:srgbClr val="38BDF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public</a:t>
            </a:r>
            <a:r>
              <a:rPr lang="en-US" sz="24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.</a:t>
            </a: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Yet criminal wallets hide among </a:t>
            </a: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hundreds of millions</a:t>
            </a:r>
            <a:r>
              <a:rPr lang="en-US" sz="24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of look-alike addresses.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040880" y="1554480"/>
            <a:ext cx="4663440" cy="3108960"/>
          </a:xfrm>
          <a:prstGeom prst="roundRect">
            <a:avLst>
              <a:gd name="adj" fmla="val 264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8" name="Image 0" descr="/sessions/loving-relaxed-planck/mnt/outputs/unp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783080"/>
            <a:ext cx="4206240" cy="20756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69480" y="3931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Real Hamas funding campaign via blockchain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040880" y="5120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Crime on the blockchain hides in plain sight.</a:t>
            </a:r>
            <a:endParaRPr lang="en-US" sz="180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FF2E17A4-C094-918B-AC09-C732F00BF279}"/>
              </a:ext>
            </a:extLst>
          </p:cNvPr>
          <p:cNvSpPr/>
          <p:nvPr/>
        </p:nvSpPr>
        <p:spPr>
          <a:xfrm>
            <a:off x="579120" y="1828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PROBLEM</a:t>
            </a:r>
            <a:endParaRPr lang="en-US" sz="3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GOAL &amp; APPROACH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6035040" cy="2286000"/>
          </a:xfrm>
          <a:prstGeom prst="roundRect">
            <a:avLst>
              <a:gd name="adj" fmla="val 36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86868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Classify any Bitcoin wallet as </a:t>
            </a:r>
            <a:r>
              <a:rPr lang="en-US" sz="19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criminal</a:t>
            </a:r>
            <a:r>
              <a:rPr lang="en-US" sz="19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or </a:t>
            </a:r>
            <a:r>
              <a:rPr lang="en-US" sz="1900" b="1" dirty="0">
                <a:solidFill>
                  <a:srgbClr val="38BDF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benign</a:t>
            </a:r>
            <a:r>
              <a:rPr lang="en-US" sz="19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from its on-chain behavior and graph neighborhood — served as a usable web tool.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3977640"/>
            <a:ext cx="6035040" cy="2331720"/>
          </a:xfrm>
          <a:prstGeom prst="roundRect">
            <a:avLst>
              <a:gd name="adj" fmla="val 35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68680" y="4224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4572000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REAL-CATS</a:t>
            </a:r>
            <a:r>
              <a:rPr lang="en-US" sz="14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— 40,032 criminal + 90,176 benign labeled addresses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Elliptic++</a:t>
            </a:r>
            <a:r>
              <a:rPr lang="en-US" sz="14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— 822K addresses with transaction features</a:t>
            </a:r>
            <a:endParaRPr lang="en-US" sz="14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38BDF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Wallets + transactions form a graph</a:t>
            </a:r>
            <a:r>
              <a:rPr lang="en-US" sz="14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— each address is a node, payments are edges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903720" y="1463040"/>
            <a:ext cx="4800600" cy="4846320"/>
          </a:xfrm>
          <a:prstGeom prst="roundRect">
            <a:avLst>
              <a:gd name="adj" fmla="val 1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8203612" y="2387235"/>
            <a:ext cx="1116851" cy="91976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101584" y="2450592"/>
            <a:ext cx="877824" cy="25603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93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0.42 BTC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 flipH="1">
            <a:off x="9753241" y="2315382"/>
            <a:ext cx="970721" cy="970721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10067544" y="2404872"/>
            <a:ext cx="877824" cy="25603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93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2.10 BTC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flipH="1">
            <a:off x="8041693" y="3577342"/>
            <a:ext cx="1243608" cy="401781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8101584" y="3648772"/>
            <a:ext cx="877824" cy="25603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93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0.07 BTC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799512" y="3598618"/>
            <a:ext cx="1076970" cy="44925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9849234" y="3713947"/>
            <a:ext cx="877824" cy="25603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93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1.30 BTC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 flipV="1">
            <a:off x="8806818" y="3751151"/>
            <a:ext cx="601745" cy="1127479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8503920" y="4357116"/>
            <a:ext cx="877824" cy="25603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93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5.80 BTC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55480" y="3744681"/>
            <a:ext cx="551676" cy="1272101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9592970" y="4398264"/>
            <a:ext cx="877824" cy="25603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793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0.95 BTC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18120" y="2039112"/>
            <a:ext cx="347472" cy="347472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10744200" y="1947672"/>
            <a:ext cx="347472" cy="347472"/>
          </a:xfrm>
          <a:prstGeom prst="ellipse">
            <a:avLst/>
          </a:prstGeom>
          <a:solidFill>
            <a:srgbClr val="EF4444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7589520" y="3895344"/>
            <a:ext cx="347472" cy="347472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10972800" y="3986784"/>
            <a:ext cx="347472" cy="347472"/>
          </a:xfrm>
          <a:prstGeom prst="ellipse">
            <a:avLst/>
          </a:prstGeom>
          <a:solidFill>
            <a:srgbClr val="22C55E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8503920" y="4946904"/>
            <a:ext cx="347472" cy="347472"/>
          </a:xfrm>
          <a:prstGeom prst="ellipse">
            <a:avLst/>
          </a:prstGeom>
          <a:solidFill>
            <a:srgbClr val="EF4444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Shape 25"/>
          <p:cNvSpPr/>
          <p:nvPr/>
        </p:nvSpPr>
        <p:spPr>
          <a:xfrm>
            <a:off x="10149840" y="5111496"/>
            <a:ext cx="347472" cy="347472"/>
          </a:xfrm>
          <a:prstGeom prst="ellipse">
            <a:avLst/>
          </a:prstGeom>
          <a:solidFill>
            <a:srgbClr val="EF4444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Shape 26"/>
          <p:cNvSpPr/>
          <p:nvPr/>
        </p:nvSpPr>
        <p:spPr>
          <a:xfrm>
            <a:off x="9299448" y="3246120"/>
            <a:ext cx="493776" cy="493776"/>
          </a:xfrm>
          <a:prstGeom prst="ellipse">
            <a:avLst/>
          </a:prstGeom>
          <a:solidFill>
            <a:srgbClr val="F7931A"/>
          </a:solidFill>
          <a:ln w="254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9299448" y="32461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?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269480" y="5961888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7525512" y="5916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benign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04581" y="5961888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8560613" y="5916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illicit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410090" y="5961888"/>
            <a:ext cx="182880" cy="182880"/>
          </a:xfrm>
          <a:prstGeom prst="ellipse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9666122" y="5916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wallet under analysis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WHY OUR APPROACH IS DIFFERENT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0292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EXISTING APPROACHES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822960" y="203911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Manual blockchain forensics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Chainalysis-style — accurate but slow, expensive, closed-source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329184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822960" y="34564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Feature-only ML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38679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XGBoost on hand-crafted features — blind to graph structure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470916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22960" y="48737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Prior academic work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22960" y="5285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Transaction-level labels on Elliptic(2016) — risk of being outdated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F793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OUR PROJECT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8745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905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075688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114032" y="20391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Dataset variety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114032" y="24505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REAL-CATS(2023), Elliptic(2016) combined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0" y="329184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905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493008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14032" y="34564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Graph structure + attention</a:t>
            </a:r>
            <a:endParaRPr lang="en-US" sz="1650" dirty="0"/>
          </a:p>
        </p:txBody>
      </p:sp>
      <p:sp>
        <p:nvSpPr>
          <p:cNvPr id="21" name="Text 17"/>
          <p:cNvSpPr/>
          <p:nvPr/>
        </p:nvSpPr>
        <p:spPr>
          <a:xfrm>
            <a:off x="7114032" y="38679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GATv2 learns which neighbors are suspicious context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00800" y="470916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9050">
            <a:solidFill>
              <a:srgbClr val="F7931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910328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114032" y="48737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End-to-end live system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7114032" y="528523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Any address → mempool.space → calibrated risk score in a web app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OUR SOLUTION — THE PIPELINE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11201400" cy="2148840"/>
          </a:xfrm>
          <a:prstGeom prst="roundRect">
            <a:avLst>
              <a:gd name="adj" fmla="val 383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4" name="Image 0" descr="/sessions/loving-relaxed-planck/mnt/final_project/outputs/poster/bitcoin_wallet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10652760" cy="14996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406908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731520" y="4251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Features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31520" y="4663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12 selected of 19 behavioral features per wallet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64992" y="406908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6"/>
          <p:cNvSpPr/>
          <p:nvPr/>
        </p:nvSpPr>
        <p:spPr>
          <a:xfrm>
            <a:off x="3593592" y="4251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Ego-graphs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3593592" y="4663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1-hop neighborhood graph built per wallet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27064" y="406908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9"/>
          <p:cNvSpPr/>
          <p:nvPr/>
        </p:nvSpPr>
        <p:spPr>
          <a:xfrm>
            <a:off x="6455664" y="4251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GATv2 GNN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455664" y="4663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Attention over neighbors → embedding → classifier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089136" y="4069080"/>
            <a:ext cx="2651760" cy="1554480"/>
          </a:xfrm>
          <a:prstGeom prst="roundRect">
            <a:avLst>
              <a:gd name="adj" fmla="val 529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2"/>
          <p:cNvSpPr/>
          <p:nvPr/>
        </p:nvSpPr>
        <p:spPr>
          <a:xfrm>
            <a:off x="9317736" y="4251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Risk score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9317736" y="4663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Temperature-calibrated probability served via API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>
            <a:off x="1009650" y="1537644"/>
            <a:ext cx="48960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GATv2: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3-layer architecture with multi-head attention (4 → 4 → 2 heads).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1009650" y="2299644"/>
            <a:ext cx="48960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Ghost-node: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Learnable 12-d + node-type embeddings for featureless neighbors.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1009650" y="3061644"/>
            <a:ext cx="48960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Regularization: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DropEdge (p=0.1) implemented during training phase.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009650" y="3823651"/>
            <a:ext cx="48960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Dual Residuals: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Layer-1→2 (gradient flow) and Input→Post-L3 (signal preservation).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009650" y="4585651"/>
            <a:ext cx="48960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Hybrid Readout: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Center node + Mean/Max pooling → 192-d vector.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009650" y="5347651"/>
            <a:ext cx="48960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7931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Post-hoc: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MLP head (192→64→2) with Temperature Scaling (T=1.058).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MODEL ARCHITECTURE</a:t>
            </a:r>
            <a:endParaRPr/>
          </a:p>
        </p:txBody>
      </p:sp>
      <p:pic>
        <p:nvPicPr>
          <p:cNvPr id="121" name="Google Shape;121;p16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1025" y="1537644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1025" y="2299644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1025" y="3061644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1025" y="3823651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1025" y="4585651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81025" y="5347651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0" y="163200"/>
            <a:ext cx="4345452" cy="64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DEMO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965200" y="1587843"/>
            <a:ext cx="9631680" cy="4480560"/>
          </a:xfrm>
          <a:prstGeom prst="roundRect">
            <a:avLst>
              <a:gd name="adj" fmla="val 1837"/>
            </a:avLst>
          </a:prstGeom>
          <a:solidFill>
            <a:srgbClr val="1E293B"/>
          </a:solidFill>
          <a:ln w="19050">
            <a:solidFill>
              <a:srgbClr val="F7931A"/>
            </a:solidFill>
            <a:prstDash val="dash"/>
          </a:ln>
        </p:spPr>
        <p:txBody>
          <a:bodyPr/>
          <a:lstStyle/>
          <a:p>
            <a:endParaRPr lang="en-IL"/>
          </a:p>
        </p:txBody>
      </p:sp>
      <p:pic>
        <p:nvPicPr>
          <p:cNvPr id="17" name="WhatsApp Video 2026-06-11 at 09.24.54.mp4">
            <a:hlinkClick r:id="" action="ppaction://media"/>
            <a:extLst>
              <a:ext uri="{FF2B5EF4-FFF2-40B4-BE49-F238E27FC236}">
                <a16:creationId xmlns:a16="http://schemas.microsoft.com/office/drawing/2014/main" id="{89995406-16FD-AB77-288A-00B3C2BCF4B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13943" r="2481" b="5319"/>
          <a:stretch>
            <a:fillRect/>
          </a:stretch>
        </p:blipFill>
        <p:spPr>
          <a:xfrm>
            <a:off x="965200" y="1587843"/>
            <a:ext cx="9631680" cy="4485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10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RESULTS — EVALUATION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11,880 held-out wallets · 4,740 criminal · never seen in training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89.4%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64992" y="1463040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3364992" y="15727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0.959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64992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ROC-AUC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27064" y="1463040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6227064" y="15727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88.4%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27064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Recall (criminal)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89136" y="1463040"/>
            <a:ext cx="2651760" cy="1325880"/>
          </a:xfrm>
          <a:prstGeom prst="roundRect">
            <a:avLst>
              <a:gd name="adj" fmla="val 62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9089136" y="157276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0.87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89136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F1 (criminal)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063240"/>
            <a:ext cx="4572000" cy="3429000"/>
          </a:xfrm>
          <a:prstGeom prst="roundRect">
            <a:avLst>
              <a:gd name="adj" fmla="val 24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pic>
        <p:nvPicPr>
          <p:cNvPr id="17" name="Image 0" descr="/sessions/loving-relaxed-planck/mnt/final_project/outputs/poster/roc_curv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3218688"/>
            <a:ext cx="3072384" cy="312724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53212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CONFUSION MATRIX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3611880"/>
          <a:ext cx="6172200" cy="1819656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94A3B8"/>
                          </a:solidFill>
                          <a:latin typeface="Urbanist" pitchFamily="34" charset="0"/>
                          <a:ea typeface="Urbanist" pitchFamily="34" charset="-122"/>
                          <a:cs typeface="Urbanist" pitchFamily="34" charset="-120"/>
                        </a:rPr>
                        <a:t>Pred. Benign</a:t>
                      </a:r>
                      <a:endParaRPr lang="en-US" sz="1250" dirty="0"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94A3B8"/>
                          </a:solidFill>
                          <a:latin typeface="Urbanist" pitchFamily="34" charset="0"/>
                          <a:ea typeface="Urbanist" pitchFamily="34" charset="-122"/>
                          <a:cs typeface="Urbanist" pitchFamily="34" charset="-120"/>
                        </a:rPr>
                        <a:t>Pred. Criminal</a:t>
                      </a:r>
                      <a:endParaRPr lang="en-US" sz="1250" dirty="0"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94A3B8"/>
                          </a:solidFill>
                          <a:latin typeface="Urbanist" pitchFamily="34" charset="0"/>
                          <a:ea typeface="Urbanist" pitchFamily="34" charset="-122"/>
                          <a:cs typeface="Urbanist" pitchFamily="34" charset="-120"/>
                        </a:rPr>
                        <a:t>Actual Benign</a:t>
                      </a:r>
                      <a:endParaRPr lang="en-US" sz="1250" dirty="0"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38BD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6,432</a:t>
                      </a:r>
                      <a:endParaRPr lang="en-US" sz="17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F793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708</a:t>
                      </a:r>
                      <a:endParaRPr lang="en-US" sz="17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94A3B8"/>
                          </a:solidFill>
                          <a:latin typeface="Urbanist" pitchFamily="34" charset="0"/>
                          <a:ea typeface="Urbanist" pitchFamily="34" charset="-122"/>
                          <a:cs typeface="Urbanist" pitchFamily="34" charset="-120"/>
                        </a:rPr>
                        <a:t>Actual Criminal</a:t>
                      </a:r>
                      <a:endParaRPr lang="en-US" sz="1250" dirty="0">
                        <a:latin typeface="Urbanist" charset="0"/>
                        <a:ea typeface="Urbanist" charset="0"/>
                        <a:cs typeface="Urbanist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F7931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550</a:t>
                      </a:r>
                      <a:endParaRPr lang="en-US" sz="17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38BDF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4,190</a:t>
                      </a:r>
                      <a:endParaRPr lang="en-US" sz="17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5532120" y="5760720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Only 550 of 4,740 criminal wallets missed.  </a:t>
            </a:r>
            <a:r>
              <a:rPr lang="en-US" sz="14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Recall is what matters when screening for crime.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/>
        </p:nvSpPr>
        <p:spPr>
          <a:xfrm>
            <a:off x="581025" y="476250"/>
            <a:ext cx="110301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PERFORMANCE CURVE ANALYSIS</a:t>
            </a:r>
            <a:endParaRPr sz="3600" b="0">
              <a:solidFill>
                <a:srgbClr val="F7931A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81025" y="1047750"/>
            <a:ext cx="110301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OptimalBitcoinGNN demonstrates exceptional discriminative power with high AUC scores across metrics.</a:t>
            </a:r>
            <a:endParaRPr sz="1600" b="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581025" y="1619250"/>
            <a:ext cx="7239000" cy="4762500"/>
          </a:xfrm>
          <a:prstGeom prst="roundRect">
            <a:avLst>
              <a:gd name="adj" fmla="val 2400"/>
            </a:avLst>
          </a:prstGeom>
          <a:solidFill>
            <a:srgbClr val="1E293B">
              <a:alpha val="40000"/>
            </a:srgbClr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8096250" y="1619250"/>
            <a:ext cx="3524400" cy="4762500"/>
          </a:xfrm>
          <a:prstGeom prst="roundRect">
            <a:avLst>
              <a:gd name="adj" fmla="val 3243"/>
            </a:avLst>
          </a:prstGeom>
          <a:solidFill>
            <a:srgbClr val="1E293B">
              <a:alpha val="40000"/>
            </a:srgbClr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8334375" y="1905000"/>
            <a:ext cx="30480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5" b="1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rPr>
              <a:t>Key Performance Metrics</a:t>
            </a:r>
            <a:endParaRPr sz="1295" b="1">
              <a:solidFill>
                <a:srgbClr val="F7931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295" b="1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rPr>
              <a:t>01. ROC Curve Excellence</a:t>
            </a:r>
            <a:endParaRPr sz="1295" b="1">
              <a:solidFill>
                <a:srgbClr val="F7931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95" b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ROC-AUC of 0.9586 indicates a very high true positive rate with minimal false positives, crucial for law enforcement.</a:t>
            </a:r>
            <a:endParaRPr sz="1295" b="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295" b="1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rPr>
              <a:t>02. Precision-Recall Stability</a:t>
            </a:r>
            <a:endParaRPr sz="1295" b="1">
              <a:solidFill>
                <a:srgbClr val="F7931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95" b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PR-AUC of 0.9415 shows the model maintains high precision even at high recall levels, outperforming the 0.40 baseline.</a:t>
            </a:r>
            <a:endParaRPr sz="1295" b="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295" b="1">
                <a:solidFill>
                  <a:srgbClr val="F7931A"/>
                </a:solidFill>
                <a:latin typeface="Urbanist"/>
                <a:ea typeface="Urbanist"/>
                <a:cs typeface="Urbanist"/>
                <a:sym typeface="Urbanist"/>
              </a:rPr>
              <a:t>03. Imbalance Robustness</a:t>
            </a:r>
            <a:endParaRPr sz="1295" b="1">
              <a:solidFill>
                <a:srgbClr val="F7931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95" b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stability of the PR curve confirms that the model handles the inherent class imbalance of criminal vs. legitimate wallets effectively.</a:t>
            </a:r>
            <a:endParaRPr sz="1295" b="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78" name="Google Shape;1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575" y="2085103"/>
            <a:ext cx="6455900" cy="344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DOES GRAPH STRUCTURE MATTER?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Same 12 features, same test set — three models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183880" y="169164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8458200" y="196596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+21 pts recall
</a:t>
            </a:r>
            <a:r>
              <a:rPr lang="en-US" sz="13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over XGBoost — the strongest feature-only baseline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183880" y="406908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5"/>
          <p:cNvSpPr/>
          <p:nvPr/>
        </p:nvSpPr>
        <p:spPr>
          <a:xfrm>
            <a:off x="8458200" y="42976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8BDF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Why?  </a:t>
            </a:r>
            <a:r>
              <a:rPr lang="en-US" sz="13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criminals XGBoost misses are the ones hiding behind normal-looking features. Their neighborhood exposes them.</a:t>
            </a:r>
            <a:endParaRPr lang="en-US" sz="135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7452360" cy="457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7931A"/>
                          </a:solidFill>
                          <a:latin typeface="Urbanist"/>
                        </a:rPr>
                        <a:t>Metric</a:t>
                      </a:r>
                    </a:p>
                  </a:txBody>
                  <a:tcPr marL="109728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7931A"/>
                          </a:solidFill>
                          <a:latin typeface="Urbanist"/>
                        </a:rPr>
                        <a:t>OptimalGNN (Ours)</a:t>
                      </a:r>
                    </a:p>
                  </a:txBody>
                  <a:tcPr marL="109728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7931A"/>
                          </a:solidFill>
                          <a:latin typeface="Urbanist"/>
                        </a:rPr>
                        <a:t>XGBoost</a:t>
                      </a:r>
                    </a:p>
                  </a:txBody>
                  <a:tcPr marL="109728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7931A"/>
                          </a:solidFill>
                          <a:latin typeface="Urbanist"/>
                        </a:rPr>
                        <a:t>Basic GCN</a:t>
                      </a:r>
                    </a:p>
                  </a:txBody>
                  <a:tcPr marL="109728" marT="27432" marB="27432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94A3B8"/>
                          </a:solidFill>
                          <a:latin typeface="Urbanist"/>
                        </a:rPr>
                        <a:t>Accuracy</a:t>
                      </a:r>
                    </a:p>
                  </a:txBody>
                  <a:tcPr marL="109728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7931A"/>
                          </a:solidFill>
                          <a:latin typeface="Urbanist"/>
                        </a:rPr>
                        <a:t>89.4%</a:t>
                      </a:r>
                    </a:p>
                  </a:txBody>
                  <a:tcPr marL="109728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Urbanist"/>
                        </a:rPr>
                        <a:t>82.6%</a:t>
                      </a:r>
                    </a:p>
                  </a:txBody>
                  <a:tcPr marL="109728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Urbanist"/>
                        </a:rPr>
                        <a:t>70.1%</a:t>
                      </a:r>
                    </a:p>
                  </a:txBody>
                  <a:tcPr marL="109728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94A3B8"/>
                          </a:solidFill>
                          <a:latin typeface="Urbanist"/>
                        </a:rPr>
                        <a:t>Precision</a:t>
                      </a:r>
                    </a:p>
                  </a:txBody>
                  <a:tcPr marL="109728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7931A"/>
                          </a:solidFill>
                          <a:latin typeface="Urbanist"/>
                        </a:rPr>
                        <a:t>85.5%</a:t>
                      </a:r>
                    </a:p>
                  </a:txBody>
                  <a:tcPr marL="109728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Urbanist"/>
                        </a:rPr>
                        <a:t>86.1%</a:t>
                      </a:r>
                    </a:p>
                  </a:txBody>
                  <a:tcPr marL="109728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Urbanist"/>
                        </a:rPr>
                        <a:t>65.8%</a:t>
                      </a:r>
                    </a:p>
                  </a:txBody>
                  <a:tcPr marL="109728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94A3B8"/>
                          </a:solidFill>
                          <a:latin typeface="Urbanist"/>
                        </a:rPr>
                        <a:t>Recall</a:t>
                      </a:r>
                    </a:p>
                  </a:txBody>
                  <a:tcPr marL="109728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7931A"/>
                          </a:solidFill>
                          <a:latin typeface="Urbanist"/>
                        </a:rPr>
                        <a:t>88.4%</a:t>
                      </a:r>
                    </a:p>
                  </a:txBody>
                  <a:tcPr marL="109728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Urbanist"/>
                        </a:rPr>
                        <a:t>67.3%</a:t>
                      </a:r>
                    </a:p>
                  </a:txBody>
                  <a:tcPr marL="109728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Urbanist"/>
                        </a:rPr>
                        <a:t>52.2%</a:t>
                      </a:r>
                    </a:p>
                  </a:txBody>
                  <a:tcPr marL="109728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94A3B8"/>
                          </a:solidFill>
                          <a:latin typeface="Urbanist"/>
                        </a:rPr>
                        <a:t>F1-Score</a:t>
                      </a:r>
                    </a:p>
                  </a:txBody>
                  <a:tcPr marL="109728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7931A"/>
                          </a:solidFill>
                          <a:latin typeface="Urbanist"/>
                        </a:rPr>
                        <a:t>0.869</a:t>
                      </a:r>
                    </a:p>
                  </a:txBody>
                  <a:tcPr marL="109728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Urbanist"/>
                        </a:rPr>
                        <a:t>0.755</a:t>
                      </a:r>
                    </a:p>
                  </a:txBody>
                  <a:tcPr marL="109728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Urbanist"/>
                        </a:rPr>
                        <a:t>0.582</a:t>
                      </a:r>
                    </a:p>
                  </a:txBody>
                  <a:tcPr marL="109728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94A3B8"/>
                          </a:solidFill>
                          <a:latin typeface="Urbanist"/>
                        </a:rPr>
                        <a:t>ROC-AUC</a:t>
                      </a:r>
                    </a:p>
                  </a:txBody>
                  <a:tcPr marL="109728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7931A"/>
                          </a:solidFill>
                          <a:latin typeface="Urbanist"/>
                        </a:rPr>
                        <a:t>0.959</a:t>
                      </a:r>
                    </a:p>
                  </a:txBody>
                  <a:tcPr marL="109728" marT="27432" marB="27432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Urbanist"/>
                        </a:rPr>
                        <a:t>0.909</a:t>
                      </a:r>
                    </a:p>
                  </a:txBody>
                  <a:tcPr marL="109728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8FAFC"/>
                          </a:solidFill>
                          <a:latin typeface="Urbanist"/>
                        </a:rPr>
                        <a:t>0.777</a:t>
                      </a:r>
                    </a:p>
                  </a:txBody>
                  <a:tcPr marL="109728" marT="27432" marB="27432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7931A"/>
                </a:solidFill>
                <a:latin typeface="Urbanist"/>
              </a:rPr>
              <a:t>HOW WE COMPARE TO PRIOR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601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Urbanist"/>
              </a:rPr>
              <a:t>Published GNN forensics tune a single transaction-level dataset — we generalize across datasets at the wallet level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042675"/>
              </p:ext>
            </p:extLst>
          </p:nvPr>
        </p:nvGraphicFramePr>
        <p:xfrm>
          <a:off x="457200" y="1481327"/>
          <a:ext cx="11155680" cy="350403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0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080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7931A"/>
                          </a:solidFill>
                          <a:latin typeface="Urbanist"/>
                        </a:rPr>
                        <a:t>Work</a:t>
                      </a:r>
                    </a:p>
                  </a:txBody>
                  <a:tcPr marR="73152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7931A"/>
                          </a:solidFill>
                          <a:latin typeface="Urbanist"/>
                        </a:rPr>
                        <a:t>Method</a:t>
                      </a:r>
                    </a:p>
                  </a:txBody>
                  <a:tcPr marR="73152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7931A"/>
                          </a:solidFill>
                          <a:latin typeface="Urbanist"/>
                        </a:rPr>
                        <a:t>Data · level</a:t>
                      </a:r>
                    </a:p>
                  </a:txBody>
                  <a:tcPr marR="73152" marT="18288" marB="18288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7931A"/>
                          </a:solidFill>
                          <a:latin typeface="Urbanist"/>
                        </a:rPr>
                        <a:t>Reported result</a:t>
                      </a:r>
                    </a:p>
                  </a:txBody>
                  <a:tcPr marR="73152" marT="18288" marB="18288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80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8FAFC"/>
                          </a:solidFill>
                          <a:latin typeface="Urbanist"/>
                        </a:rPr>
                        <a:t>Asiri et al. (2025)</a:t>
                      </a:r>
                    </a:p>
                  </a:txBody>
                  <a:tcPr marR="73152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4A3B8"/>
                          </a:solidFill>
                          <a:latin typeface="Urbanist"/>
                        </a:rPr>
                        <a:t>Optimized GCN</a:t>
                      </a:r>
                    </a:p>
                  </a:txBody>
                  <a:tcPr marR="73152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4A3B8"/>
                          </a:solidFill>
                          <a:latin typeface="Urbanist"/>
                        </a:rPr>
                        <a:t>Elliptic · transaction</a:t>
                      </a:r>
                    </a:p>
                  </a:txBody>
                  <a:tcPr marR="73152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8BDF8"/>
                          </a:solidFill>
                          <a:latin typeface="Urbanist"/>
                        </a:rPr>
                        <a:t>98.5% acc · 0.94 AUC</a:t>
                      </a:r>
                    </a:p>
                  </a:txBody>
                  <a:tcPr marR="73152" marT="18288" marB="18288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80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8FAFC"/>
                          </a:solidFill>
                          <a:latin typeface="Urbanist"/>
                        </a:rPr>
                        <a:t>Zhang et al. (2024)</a:t>
                      </a:r>
                    </a:p>
                  </a:txBody>
                  <a:tcPr marR="73152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4A3B8"/>
                          </a:solidFill>
                          <a:latin typeface="Urbanist"/>
                        </a:rPr>
                        <a:t>GAT-ResNet (attention + residual)</a:t>
                      </a:r>
                    </a:p>
                  </a:txBody>
                  <a:tcPr marR="73152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4A3B8"/>
                          </a:solidFill>
                          <a:latin typeface="Urbanist"/>
                        </a:rPr>
                        <a:t>Elliptic · transaction</a:t>
                      </a:r>
                    </a:p>
                  </a:txBody>
                  <a:tcPr marR="73152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8BDF8"/>
                          </a:solidFill>
                          <a:latin typeface="Urbanist"/>
                        </a:rPr>
                        <a:t>Illicit F1 0.72 · Recall 0.58</a:t>
                      </a:r>
                    </a:p>
                  </a:txBody>
                  <a:tcPr marR="73152" marT="18288" marB="18288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806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F8FAFC"/>
                          </a:solidFill>
                          <a:latin typeface="Urbanist"/>
                        </a:rPr>
                        <a:t>Alarab</a:t>
                      </a:r>
                      <a:r>
                        <a:rPr sz="1200" b="1" dirty="0">
                          <a:solidFill>
                            <a:srgbClr val="F8FAFC"/>
                          </a:solidFill>
                          <a:latin typeface="Urbanist"/>
                        </a:rPr>
                        <a:t> &amp; </a:t>
                      </a:r>
                      <a:r>
                        <a:rPr sz="1200" b="1" dirty="0" err="1">
                          <a:solidFill>
                            <a:srgbClr val="F8FAFC"/>
                          </a:solidFill>
                          <a:latin typeface="Urbanist"/>
                        </a:rPr>
                        <a:t>Prakoonwit</a:t>
                      </a:r>
                      <a:r>
                        <a:rPr sz="1200" b="1" dirty="0">
                          <a:solidFill>
                            <a:srgbClr val="F8FAFC"/>
                          </a:solidFill>
                          <a:latin typeface="Urbanist"/>
                        </a:rPr>
                        <a:t> (2022)</a:t>
                      </a:r>
                    </a:p>
                  </a:txBody>
                  <a:tcPr marR="73152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94A3B8"/>
                          </a:solidFill>
                          <a:latin typeface="Urbanist"/>
                        </a:rPr>
                        <a:t>GCN + LSTM (temporal)</a:t>
                      </a:r>
                    </a:p>
                  </a:txBody>
                  <a:tcPr marR="73152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94A3B8"/>
                          </a:solidFill>
                          <a:latin typeface="Urbanist"/>
                        </a:rPr>
                        <a:t>Elliptic · transaction</a:t>
                      </a:r>
                    </a:p>
                  </a:txBody>
                  <a:tcPr marR="73152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38BDF8"/>
                          </a:solidFill>
                          <a:latin typeface="Urbanist"/>
                        </a:rPr>
                        <a:t>Illicit F1 0.81 · Recall 0.71</a:t>
                      </a:r>
                    </a:p>
                  </a:txBody>
                  <a:tcPr marR="73152" marT="18288" marB="18288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80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7931A"/>
                          </a:solidFill>
                          <a:latin typeface="Urbanist"/>
                        </a:rPr>
                        <a:t>Ours — OptimalBitcoinGNN</a:t>
                      </a:r>
                    </a:p>
                  </a:txBody>
                  <a:tcPr marR="73152" marT="18288" marB="18288" anchor="ctr">
                    <a:solidFill>
                      <a:srgbClr val="2A33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8FAFC"/>
                          </a:solidFill>
                          <a:latin typeface="Urbanist"/>
                        </a:rPr>
                        <a:t>GATv2 ego-graph + attention</a:t>
                      </a:r>
                    </a:p>
                  </a:txBody>
                  <a:tcPr marR="73152" marT="18288" marB="18288" anchor="ctr">
                    <a:solidFill>
                      <a:srgbClr val="2A33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F8FAFC"/>
                          </a:solidFill>
                          <a:latin typeface="Urbanist"/>
                        </a:rPr>
                        <a:t>REAL-CATS + Elliptic++ · wallet</a:t>
                      </a:r>
                    </a:p>
                  </a:txBody>
                  <a:tcPr marR="73152" marT="18288" marB="18288" anchor="ctr">
                    <a:solidFill>
                      <a:srgbClr val="2A33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38BDF8"/>
                          </a:solidFill>
                          <a:latin typeface="Urbanist"/>
                        </a:rPr>
                        <a:t>F1 0.87 · Recall 0.88 · 89.4% acc</a:t>
                      </a:r>
                    </a:p>
                  </a:txBody>
                  <a:tcPr marR="73152" marT="18288" marB="18288" anchor="ctr">
                    <a:solidFill>
                      <a:srgbClr val="2A3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76673"/>
            <a:ext cx="1115568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F7931A"/>
                </a:solidFill>
                <a:latin typeface="Urbanist"/>
              </a:rPr>
              <a:t>The gap we fill:  </a:t>
            </a:r>
            <a:r>
              <a:rPr b="0" dirty="0">
                <a:solidFill>
                  <a:srgbClr val="F8FAFC"/>
                </a:solidFill>
                <a:latin typeface="Urbanist"/>
              </a:rPr>
              <a:t>every prior model optimizes one mostly-2016 transaction-level dataset. Ours is the only one tested for </a:t>
            </a:r>
            <a:r>
              <a:rPr b="1" dirty="0">
                <a:solidFill>
                  <a:srgbClr val="38BDF8"/>
                </a:solidFill>
                <a:latin typeface="Urbanist"/>
              </a:rPr>
              <a:t>cross-dataset generalization</a:t>
            </a:r>
            <a:r>
              <a:rPr b="0" dirty="0">
                <a:solidFill>
                  <a:srgbClr val="F8FAFC"/>
                </a:solidFill>
                <a:latin typeface="Urbanist"/>
              </a:rPr>
              <a:t> — trained on Elliptic++ (theft/Ponzi), validated on REAL-CATS (modern cybercrime &amp; terror financing) — at the wallet level.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LIMITATIONS &amp; FUTURE WORK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490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HONEST LIMITATIONS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02920" y="2103120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3"/>
          <p:cNvSpPr/>
          <p:nvPr/>
        </p:nvSpPr>
        <p:spPr>
          <a:xfrm>
            <a:off x="822960" y="2240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Labels are imperfect and dated — criminal behavior drifts over time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02920" y="3383280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Ego-graphs limited to 1 hop — long laundering chains can escape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02920" y="4663440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822960" y="4800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No formal user study of the web tool yet</a:t>
            </a:r>
            <a:endParaRPr lang="en-US" sz="14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5087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490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0" y="2103120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0"/>
          <p:cNvSpPr/>
          <p:nvPr/>
        </p:nvSpPr>
        <p:spPr>
          <a:xfrm>
            <a:off x="6720840" y="2240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Temporal GNNs — model how wallet behavior evolves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400800" y="3383280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2"/>
          <p:cNvSpPr/>
          <p:nvPr/>
        </p:nvSpPr>
        <p:spPr>
          <a:xfrm>
            <a:off x="6720840" y="3520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Deeper / larger graphs with sampling for full-chain coverage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6400800" y="4663440"/>
            <a:ext cx="5440680" cy="109728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4"/>
          <p:cNvSpPr/>
          <p:nvPr/>
        </p:nvSpPr>
        <p:spPr>
          <a:xfrm>
            <a:off x="6720840" y="4800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Exchange integration: real-time screening at deposit time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114300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Graph structure is essential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Connections catch criminals that features alone miss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114300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4645152" y="14173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45152" y="2103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Attention wins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45152" y="2651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GATv2: 89.4% accuracy, +21 pts recall over a strong XGBoost baseline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47304" y="114300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8467344" y="14173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467344" y="2103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It's a real tool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67344" y="2651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Live address → calibrated risk score, not just a notebook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3977640"/>
            <a:ext cx="11201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blockchain is public —
</a:t>
            </a:r>
            <a:r>
              <a:rPr lang="en-US" sz="40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we built the lens</a:t>
            </a:r>
            <a:r>
              <a:rPr lang="en-US" sz="40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 that makes crime on it </a:t>
            </a:r>
            <a:r>
              <a:rPr lang="en-US" sz="4000" b="1" dirty="0">
                <a:solidFill>
                  <a:srgbClr val="38BDF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visible</a:t>
            </a:r>
            <a:r>
              <a:rPr lang="en-US" sz="4000" b="1" dirty="0">
                <a:solidFill>
                  <a:srgbClr val="F8FAFC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.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02920" y="594360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Thank you  ·  Questions?</a:t>
            </a:r>
            <a:endParaRPr lang="en-US" sz="1800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49CA2D22-307F-5EDC-6FB8-D2A9DB9A1976}"/>
              </a:ext>
            </a:extLst>
          </p:cNvPr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7931A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SUMMARY</a:t>
            </a:r>
            <a:endParaRPr lang="en-US" sz="3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1459</TotalTime>
  <Words>930</Words>
  <Application>Microsoft Macintosh PowerPoint</Application>
  <PresentationFormat>Widescreen</PresentationFormat>
  <Paragraphs>186</Paragraphs>
  <Slides>14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Arial</vt:lpstr>
      <vt:lpstr>Calibri</vt:lpstr>
      <vt:lpstr>JetBrains Mono</vt:lpstr>
      <vt:lpstr>Roboto</vt:lpstr>
      <vt:lpstr>Urbanist</vt:lpstr>
      <vt:lpstr>Urbanist ExtraBold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Detecting Criminal Wallets - GNN Analysis</dc:title>
  <dc:subject>PptxGenJS Presentation</dc:subject>
  <dc:creator>Group 4</dc:creator>
  <cp:lastModifiedBy>אורי סנואני</cp:lastModifiedBy>
  <cp:revision>8</cp:revision>
  <dcterms:created xsi:type="dcterms:W3CDTF">2026-06-10T11:47:29Z</dcterms:created>
  <dcterms:modified xsi:type="dcterms:W3CDTF">2026-06-18T12:29:10Z</dcterms:modified>
</cp:coreProperties>
</file>