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comments+xml" PartName="/ppt/comments/comment2.xml"/>
  <Override ContentType="application/vnd.openxmlformats-officedocument.presentationml.comments+xml" PartName="/ppt/comments/comment4.xml"/>
  <Override ContentType="application/vnd.openxmlformats-officedocument.presentationml.comments+xml" PartName="/ppt/comments/comment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5143500" cx="9144000"/>
  <p:notesSz cx="6858000" cy="9144000"/>
  <p:embeddedFontLst>
    <p:embeddedFont>
      <p:font typeface="Robot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5" name="orimood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font" Target="fonts/Roboto-bold.fntdata"/><Relationship Id="rId10" Type="http://schemas.openxmlformats.org/officeDocument/2006/relationships/slide" Target="slides/slide4.xml"/><Relationship Id="rId21" Type="http://schemas.openxmlformats.org/officeDocument/2006/relationships/font" Target="fonts/Roboto-regular.fntdata"/><Relationship Id="rId13" Type="http://schemas.openxmlformats.org/officeDocument/2006/relationships/slide" Target="slides/slide7.xml"/><Relationship Id="rId24" Type="http://schemas.openxmlformats.org/officeDocument/2006/relationships/font" Target="fonts/Roboto-boldItalic.fntdata"/><Relationship Id="rId12" Type="http://schemas.openxmlformats.org/officeDocument/2006/relationships/slide" Target="slides/slide6.xml"/><Relationship Id="rId23" Type="http://schemas.openxmlformats.org/officeDocument/2006/relationships/font" Target="fonts/Robot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5-11-19T12:50:03.005">
    <p:pos x="272" y="1112"/>
    <p:text>(you can delete this sentence just say it ).</p:text>
  </p:cm>
  <p:cm authorId="0" idx="2" dt="2025-11-19T12:50:20.176">
    <p:pos x="3857" y="1112"/>
    <p:text>(looks bad with point)</p:tex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3" dt="2025-11-19T12:50:28.640">
    <p:pos x="89" y="1016"/>
    <p:text>Put picture or something below</p:text>
  </p:cm>
</p:cmLst>
</file>

<file path=ppt/comments/comment3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4" dt="2025-11-19T12:50:40.589">
    <p:pos x="196" y="774"/>
    <p:text>Put another picture of gnn</p:text>
  </p:cm>
</p:cmLst>
</file>

<file path=ppt/comments/comment4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5" dt="2025-11-19T12:50:48.512">
    <p:pos x="196" y="774"/>
    <p:text>Maybe the picture should be columns idk not really important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c6f9e470d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c6f9e470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c6f9e470d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c6f9e470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הבלוקצ'יין הוא ספר חשבונות דיגיטלי מבוזר שמתעד עסקאות על פני רשת מחשבים, בצורה שקופה ושאינה ניתנת לשינוי.</a:t>
            </a:r>
            <a:br>
              <a:rPr lang="en" sz="16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6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 במקום להסתמך על גורם מרכזי כמו בנק, הרשת כולה מאמתת ומאבטחת כל עסקה.</a:t>
            </a:r>
            <a:endParaRPr sz="160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 sz="160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a3b5ecb4aa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a3b5ecb4aa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9103ee1574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9103ee1574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a3b5ecb4aa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a3b5ecb4aa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a3b5ecb4aa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a3b5ecb4aa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9103ee1574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9103ee1574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9103ee1574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9103ee1574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9103ee1574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9103ee1574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9103ee1574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9103ee1574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9103ee1574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9103ee1574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9103ee1574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9103ee1574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c6f9e470d_0_4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c6f9e470d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a3b5ecb4aa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a3b5ecb4aa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comments" Target="../comments/comment1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comments" Target="../comments/comment2.xml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comments" Target="../comments/comment3.xml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comments" Target="../comments/comment4.xml"/><Relationship Id="rId4" Type="http://schemas.openxmlformats.org/officeDocument/2006/relationships/hyperlink" Target="https://github.com/git-disl/EllipticPlusPlus" TargetMode="External"/><Relationship Id="rId5" Type="http://schemas.openxmlformats.org/officeDocument/2006/relationships/hyperlink" Target="https://github.com/sjdseu/Real-CATS" TargetMode="External"/><Relationship Id="rId6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598100" y="1134777"/>
            <a:ext cx="8222100" cy="1479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Detecting Malicious Blockchain Activity</a:t>
            </a:r>
            <a:endParaRPr sz="3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Presenters</a:t>
            </a:r>
            <a:r>
              <a:rPr b="1" lang="en"/>
              <a:t>:</a:t>
            </a:r>
            <a:r>
              <a:rPr lang="en"/>
              <a:t> Ori Sinvani, Nehoray Chalfon, Harel Brener</a:t>
            </a:r>
            <a:br>
              <a:rPr lang="en"/>
            </a:br>
            <a:r>
              <a:rPr b="1" lang="en"/>
              <a:t>Project</a:t>
            </a:r>
            <a:r>
              <a:rPr b="1" lang="en"/>
              <a:t> Advisor:</a:t>
            </a:r>
            <a:r>
              <a:rPr lang="en"/>
              <a:t> Ofer Zevin</a:t>
            </a:r>
            <a:br>
              <a:rPr lang="en"/>
            </a:br>
            <a:br>
              <a:rPr lang="en"/>
            </a:br>
            <a:br>
              <a:rPr lang="en"/>
            </a:br>
            <a:r>
              <a:rPr lang="en"/>
              <a:t>Data science Project</a:t>
            </a:r>
            <a:endParaRPr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Background</a:t>
            </a:r>
            <a:endParaRPr/>
          </a:p>
        </p:txBody>
      </p:sp>
      <p:grpSp>
        <p:nvGrpSpPr>
          <p:cNvPr id="92" name="Google Shape;92;p14"/>
          <p:cNvGrpSpPr/>
          <p:nvPr/>
        </p:nvGrpSpPr>
        <p:grpSpPr>
          <a:xfrm>
            <a:off x="431925" y="1304875"/>
            <a:ext cx="2628925" cy="3416400"/>
            <a:chOff x="431925" y="1304875"/>
            <a:chExt cx="2628925" cy="3416400"/>
          </a:xfrm>
        </p:grpSpPr>
        <p:sp>
          <p:nvSpPr>
            <p:cNvPr id="93" name="Google Shape;93;p14"/>
            <p:cNvSpPr txBox="1"/>
            <p:nvPr/>
          </p:nvSpPr>
          <p:spPr>
            <a:xfrm>
              <a:off x="431925" y="1304875"/>
              <a:ext cx="26289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14"/>
            <p:cNvSpPr/>
            <p:nvPr/>
          </p:nvSpPr>
          <p:spPr>
            <a:xfrm>
              <a:off x="431950" y="13048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14"/>
          <p:cNvSpPr txBox="1"/>
          <p:nvPr>
            <p:ph idx="4294967295" type="body"/>
          </p:nvPr>
        </p:nvSpPr>
        <p:spPr>
          <a:xfrm>
            <a:off x="506425" y="1304875"/>
            <a:ext cx="24945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Crypto</a:t>
            </a:r>
            <a:endParaRPr>
              <a:solidFill>
                <a:schemeClr val="lt1"/>
              </a:solidFill>
            </a:endParaRPr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grpSp>
        <p:nvGrpSpPr>
          <p:cNvPr id="96" name="Google Shape;96;p14"/>
          <p:cNvGrpSpPr/>
          <p:nvPr/>
        </p:nvGrpSpPr>
        <p:grpSpPr>
          <a:xfrm>
            <a:off x="3320450" y="1304875"/>
            <a:ext cx="2632500" cy="3416400"/>
            <a:chOff x="3320450" y="1304875"/>
            <a:chExt cx="2632500" cy="3416400"/>
          </a:xfrm>
        </p:grpSpPr>
        <p:sp>
          <p:nvSpPr>
            <p:cNvPr id="97" name="Google Shape;97;p14"/>
            <p:cNvSpPr txBox="1"/>
            <p:nvPr/>
          </p:nvSpPr>
          <p:spPr>
            <a:xfrm>
              <a:off x="3324050" y="1304875"/>
              <a:ext cx="26289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14"/>
            <p:cNvSpPr/>
            <p:nvPr/>
          </p:nvSpPr>
          <p:spPr>
            <a:xfrm>
              <a:off x="3320450" y="13048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9" name="Google Shape;99;p14"/>
          <p:cNvSpPr txBox="1"/>
          <p:nvPr>
            <p:ph idx="4294967295" type="body"/>
          </p:nvPr>
        </p:nvSpPr>
        <p:spPr>
          <a:xfrm>
            <a:off x="3389450" y="1304875"/>
            <a:ext cx="24945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Problem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0" name="Google Shape;100;p14"/>
          <p:cNvSpPr txBox="1"/>
          <p:nvPr>
            <p:ph idx="4294967295" type="body"/>
          </p:nvPr>
        </p:nvSpPr>
        <p:spPr>
          <a:xfrm>
            <a:off x="3324050" y="1766275"/>
            <a:ext cx="2628900" cy="295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Today the technology is used in part for: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Money laundering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Terror funding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Tax evasion</a:t>
            </a:r>
            <a:endParaRPr sz="1600"/>
          </a:p>
          <a:p>
            <a:pPr indent="0" lvl="0" marL="457200" rtl="1" algn="r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600"/>
          </a:p>
        </p:txBody>
      </p:sp>
      <p:grpSp>
        <p:nvGrpSpPr>
          <p:cNvPr id="101" name="Google Shape;101;p14"/>
          <p:cNvGrpSpPr/>
          <p:nvPr/>
        </p:nvGrpSpPr>
        <p:grpSpPr>
          <a:xfrm>
            <a:off x="6123250" y="1304875"/>
            <a:ext cx="2632500" cy="3416400"/>
            <a:chOff x="6212550" y="1304875"/>
            <a:chExt cx="2632500" cy="3416400"/>
          </a:xfrm>
        </p:grpSpPr>
        <p:sp>
          <p:nvSpPr>
            <p:cNvPr id="102" name="Google Shape;102;p14"/>
            <p:cNvSpPr/>
            <p:nvPr/>
          </p:nvSpPr>
          <p:spPr>
            <a:xfrm>
              <a:off x="6215400" y="13048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14"/>
            <p:cNvSpPr txBox="1"/>
            <p:nvPr/>
          </p:nvSpPr>
          <p:spPr>
            <a:xfrm>
              <a:off x="6212550" y="1304875"/>
              <a:ext cx="26325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4" name="Google Shape;104;p14"/>
          <p:cNvSpPr txBox="1"/>
          <p:nvPr>
            <p:ph idx="4294967295" type="body"/>
          </p:nvPr>
        </p:nvSpPr>
        <p:spPr>
          <a:xfrm>
            <a:off x="6272475" y="1304875"/>
            <a:ext cx="24945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Solution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5" name="Google Shape;105;p14"/>
          <p:cNvSpPr txBox="1"/>
          <p:nvPr>
            <p:ph idx="4294967295" type="body"/>
          </p:nvPr>
        </p:nvSpPr>
        <p:spPr>
          <a:xfrm>
            <a:off x="431925" y="1766275"/>
            <a:ext cx="2628900" cy="295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Blockchain technology </a:t>
            </a:r>
            <a:r>
              <a:rPr lang="en" sz="1600"/>
              <a:t>caused</a:t>
            </a:r>
            <a:r>
              <a:rPr lang="en" sz="1600"/>
              <a:t> a financial revolution 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Instant transfer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Unregulated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Anonymous </a:t>
            </a:r>
            <a:endParaRPr sz="1600"/>
          </a:p>
          <a:p>
            <a:pPr indent="0" lvl="0" marL="0" rtl="1" algn="r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06" name="Google Shape;106;p14"/>
          <p:cNvSpPr txBox="1"/>
          <p:nvPr>
            <p:ph idx="4294967295" type="body"/>
          </p:nvPr>
        </p:nvSpPr>
        <p:spPr>
          <a:xfrm>
            <a:off x="6123200" y="1766275"/>
            <a:ext cx="2632500" cy="295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There</a:t>
            </a:r>
            <a:r>
              <a:rPr lang="en" sz="1600"/>
              <a:t> is a need for </a:t>
            </a:r>
            <a:r>
              <a:rPr b="1" lang="en" sz="1600"/>
              <a:t>automatic </a:t>
            </a:r>
            <a:r>
              <a:rPr b="1" lang="en" sz="1600"/>
              <a:t>tools</a:t>
            </a:r>
            <a:r>
              <a:rPr lang="en" sz="1600"/>
              <a:t> to track these behaviours</a:t>
            </a:r>
            <a:endParaRPr sz="1600"/>
          </a:p>
          <a:p>
            <a:pPr indent="0" lvl="0" marL="0" rtl="1" algn="r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5"/>
          <p:cNvSpPr txBox="1"/>
          <p:nvPr>
            <p:ph type="title"/>
          </p:nvPr>
        </p:nvSpPr>
        <p:spPr>
          <a:xfrm>
            <a:off x="311700" y="481625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Clients</a:t>
            </a:r>
            <a:endParaRPr/>
          </a:p>
        </p:txBody>
      </p:sp>
      <p:pic>
        <p:nvPicPr>
          <p:cNvPr id="112" name="Google Shape;112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45275" y="411475"/>
            <a:ext cx="5264325" cy="3465025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142425" y="1614450"/>
            <a:ext cx="8008500" cy="34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Our 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product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is made for: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Financial institutions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Military and police 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Businesses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and individuals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6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Goals &amp; Challenges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Goals</a:t>
            </a:r>
            <a:endParaRPr/>
          </a:p>
        </p:txBody>
      </p:sp>
      <p:sp>
        <p:nvSpPr>
          <p:cNvPr id="124" name="Google Shape;124;p17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Build a system that: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Interaction</a:t>
            </a:r>
            <a:r>
              <a:rPr lang="en"/>
              <a:t> with user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Processes</a:t>
            </a:r>
            <a:r>
              <a:rPr lang="en"/>
              <a:t> real-time transaction data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Classification</a:t>
            </a:r>
            <a:r>
              <a:rPr lang="en"/>
              <a:t> of </a:t>
            </a:r>
            <a:r>
              <a:rPr lang="en"/>
              <a:t>requested</a:t>
            </a:r>
            <a:r>
              <a:rPr lang="en"/>
              <a:t> wallet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Results Showcase</a:t>
            </a:r>
            <a:r>
              <a:rPr lang="en"/>
              <a:t> to user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1" algn="r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25" name="Google Shape;12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6075" y="282499"/>
            <a:ext cx="3806225" cy="2121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Core Challenge</a:t>
            </a:r>
            <a:endParaRPr/>
          </a:p>
        </p:txBody>
      </p:sp>
      <p:sp>
        <p:nvSpPr>
          <p:cNvPr id="131" name="Google Shape;131;p18"/>
          <p:cNvSpPr txBox="1"/>
          <p:nvPr>
            <p:ph idx="4294967295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Anonymity</a:t>
            </a:r>
            <a:r>
              <a:rPr lang="en"/>
              <a:t> in practice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Massive</a:t>
            </a:r>
            <a:r>
              <a:rPr lang="en"/>
              <a:t> transaction volume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Complex</a:t>
            </a:r>
            <a:r>
              <a:rPr lang="en"/>
              <a:t> Network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Therefore, the solution must include: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Business-logic transaction analysis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Building a transaction-graph model (</a:t>
            </a:r>
            <a:r>
              <a:rPr lang="en"/>
              <a:t>GNN</a:t>
            </a:r>
            <a:r>
              <a:rPr lang="en"/>
              <a:t>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32" name="Google Shape;132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97400" y="1017800"/>
            <a:ext cx="3827500" cy="2152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9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 Architecture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WorkFlow Pipeline</a:t>
            </a:r>
            <a:endParaRPr/>
          </a:p>
        </p:txBody>
      </p:sp>
      <p:pic>
        <p:nvPicPr>
          <p:cNvPr id="143" name="Google Shape;143;p20" title="Mid Complexity ML Pipeline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200"/>
            <a:ext cx="8839204" cy="24126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</a:t>
            </a:r>
            <a:endParaRPr/>
          </a:p>
        </p:txBody>
      </p:sp>
      <p:sp>
        <p:nvSpPr>
          <p:cNvPr id="149" name="Google Shape;149;p2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 u="sng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Elliptic++</a:t>
            </a:r>
            <a:endParaRPr b="1"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Bitcoin, 203K labeled transactions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Anonymized features</a:t>
            </a:r>
            <a:endParaRPr sz="16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spcBef>
                <a:spcPts val="800"/>
              </a:spcBef>
              <a:spcAft>
                <a:spcPts val="0"/>
              </a:spcAft>
              <a:buSzPts val="1600"/>
              <a:buChar char="●"/>
            </a:pPr>
            <a:r>
              <a:rPr b="1" lang="en" sz="1600" u="sng">
                <a:solidFill>
                  <a:schemeClr val="accent5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Real-CATS</a:t>
            </a:r>
            <a:r>
              <a:rPr b="1" lang="en" sz="1600"/>
              <a:t> </a:t>
            </a:r>
            <a:endParaRPr b="1"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Over 200K labeled wallets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Bitcoin &amp; Ethereum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25 </a:t>
            </a:r>
            <a:r>
              <a:rPr lang="en" sz="1600"/>
              <a:t>Features</a:t>
            </a:r>
            <a:endParaRPr sz="1600"/>
          </a:p>
          <a:p>
            <a:pPr indent="0" lvl="0" marL="9144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91440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150" name="Google Shape;150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99950" y="1017800"/>
            <a:ext cx="3768775" cy="2510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2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 Extraction &amp; model</a:t>
            </a:r>
            <a:endParaRPr/>
          </a:p>
        </p:txBody>
      </p:sp>
      <p:sp>
        <p:nvSpPr>
          <p:cNvPr id="156" name="Google Shape;156;p22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Numerical features:                        </a:t>
            </a:r>
            <a:endParaRPr b="1" sz="1600"/>
          </a:p>
          <a:p>
            <a:pPr indent="-330200" lvl="0" marL="457200" rtl="0" algn="l">
              <a:spcBef>
                <a:spcPts val="8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Node degrees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Transaction Counts</a:t>
            </a:r>
            <a:endParaRPr sz="16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600"/>
              <a:t>Graph features:</a:t>
            </a:r>
            <a:endParaRPr b="1" sz="1600"/>
          </a:p>
          <a:p>
            <a:pPr indent="-330200" lvl="0" marL="457200" rtl="0" algn="l">
              <a:spcBef>
                <a:spcPts val="8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Pagerank                           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Clustering </a:t>
            </a:r>
            <a:endParaRPr sz="16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600"/>
              <a:t>Deep learning models</a:t>
            </a:r>
            <a:endParaRPr b="1" sz="1600"/>
          </a:p>
          <a:p>
            <a:pPr indent="-330200" lvl="0" marL="457200" rtl="0" algn="l">
              <a:spcBef>
                <a:spcPts val="8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GCN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GraphSAGE</a:t>
            </a:r>
            <a:endParaRPr sz="1600"/>
          </a:p>
          <a:p>
            <a:pPr indent="0" lvl="0" marL="0" rtl="0" algn="l">
              <a:spcBef>
                <a:spcPts val="8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87700" y="1382088"/>
            <a:ext cx="4588250" cy="237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3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Fullstack</a:t>
            </a:r>
            <a:endParaRPr/>
          </a:p>
        </p:txBody>
      </p:sp>
      <p:pic>
        <p:nvPicPr>
          <p:cNvPr id="163" name="Google Shape;16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16550" y="249576"/>
            <a:ext cx="4027448" cy="4027448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3"/>
          <p:cNvSpPr txBox="1"/>
          <p:nvPr>
            <p:ph idx="1" type="body"/>
          </p:nvPr>
        </p:nvSpPr>
        <p:spPr>
          <a:xfrm>
            <a:off x="311700" y="12865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Frontend                                                               </a:t>
            </a:r>
            <a:endParaRPr b="1"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UI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Display results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/>
              <a:t>Backend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API requests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Run Model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Pass Results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4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Timeline &amp; Risks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Background pointer shape in timeline graphic" id="174" name="Google Shape;174;p25"/>
          <p:cNvSpPr/>
          <p:nvPr/>
        </p:nvSpPr>
        <p:spPr>
          <a:xfrm>
            <a:off x="346584" y="2441525"/>
            <a:ext cx="1872300" cy="745500"/>
          </a:xfrm>
          <a:prstGeom prst="homePlat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25"/>
          <p:cNvSpPr txBox="1"/>
          <p:nvPr>
            <p:ph idx="4294967295" type="body"/>
          </p:nvPr>
        </p:nvSpPr>
        <p:spPr>
          <a:xfrm>
            <a:off x="346573" y="2579075"/>
            <a:ext cx="1455600" cy="4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</a:rPr>
              <a:t>21.11.25</a:t>
            </a:r>
            <a:endParaRPr sz="1600">
              <a:solidFill>
                <a:schemeClr val="lt1"/>
              </a:solidFill>
            </a:endParaRPr>
          </a:p>
        </p:txBody>
      </p:sp>
      <p:grpSp>
        <p:nvGrpSpPr>
          <p:cNvPr id="176" name="Google Shape;176;p25"/>
          <p:cNvGrpSpPr/>
          <p:nvPr/>
        </p:nvGrpSpPr>
        <p:grpSpPr>
          <a:xfrm>
            <a:off x="974920" y="1852740"/>
            <a:ext cx="198900" cy="593656"/>
            <a:chOff x="777447" y="1610215"/>
            <a:chExt cx="198900" cy="593656"/>
          </a:xfrm>
        </p:grpSpPr>
        <p:cxnSp>
          <p:nvCxnSpPr>
            <p:cNvPr id="177" name="Google Shape;177;p25"/>
            <p:cNvCxnSpPr/>
            <p:nvPr/>
          </p:nvCxnSpPr>
          <p:spPr>
            <a:xfrm>
              <a:off x="876909" y="1649171"/>
              <a:ext cx="0" cy="55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78" name="Google Shape;178;p25"/>
            <p:cNvSpPr/>
            <p:nvPr/>
          </p:nvSpPr>
          <p:spPr>
            <a:xfrm>
              <a:off x="777447" y="1610215"/>
              <a:ext cx="198900" cy="198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9" name="Google Shape;179;p25"/>
          <p:cNvSpPr txBox="1"/>
          <p:nvPr>
            <p:ph idx="4294967295" type="body"/>
          </p:nvPr>
        </p:nvSpPr>
        <p:spPr>
          <a:xfrm>
            <a:off x="346575" y="813767"/>
            <a:ext cx="2242800" cy="9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Main idea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Initial presentation</a:t>
            </a:r>
            <a:endParaRPr sz="1600"/>
          </a:p>
        </p:txBody>
      </p:sp>
      <p:sp>
        <p:nvSpPr>
          <p:cNvPr descr="Background pointer shape in timeline graphic" id="180" name="Google Shape;180;p25"/>
          <p:cNvSpPr/>
          <p:nvPr/>
        </p:nvSpPr>
        <p:spPr>
          <a:xfrm>
            <a:off x="1822704" y="2441525"/>
            <a:ext cx="2051100" cy="7455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5"/>
          <p:cNvSpPr txBox="1"/>
          <p:nvPr>
            <p:ph idx="4294967295" type="body"/>
          </p:nvPr>
        </p:nvSpPr>
        <p:spPr>
          <a:xfrm>
            <a:off x="2131967" y="2579075"/>
            <a:ext cx="1315500" cy="4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</a:rPr>
              <a:t>11.12.25</a:t>
            </a:r>
            <a:endParaRPr sz="1600">
              <a:solidFill>
                <a:schemeClr val="lt1"/>
              </a:solidFill>
            </a:endParaRPr>
          </a:p>
        </p:txBody>
      </p:sp>
      <p:grpSp>
        <p:nvGrpSpPr>
          <p:cNvPr id="182" name="Google Shape;182;p25"/>
          <p:cNvGrpSpPr/>
          <p:nvPr/>
        </p:nvGrpSpPr>
        <p:grpSpPr>
          <a:xfrm>
            <a:off x="2690282" y="3181483"/>
            <a:ext cx="198900" cy="593656"/>
            <a:chOff x="2223534" y="2938958"/>
            <a:chExt cx="198900" cy="593656"/>
          </a:xfrm>
        </p:grpSpPr>
        <p:cxnSp>
          <p:nvCxnSpPr>
            <p:cNvPr id="183" name="Google Shape;183;p25"/>
            <p:cNvCxnSpPr/>
            <p:nvPr/>
          </p:nvCxnSpPr>
          <p:spPr>
            <a:xfrm rot="10800000">
              <a:off x="2322997" y="2938958"/>
              <a:ext cx="0" cy="55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84" name="Google Shape;184;p25"/>
            <p:cNvSpPr/>
            <p:nvPr/>
          </p:nvSpPr>
          <p:spPr>
            <a:xfrm flipH="1" rot="10800000">
              <a:off x="2223534" y="3333714"/>
              <a:ext cx="198900" cy="198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5" name="Google Shape;185;p25"/>
          <p:cNvSpPr txBox="1"/>
          <p:nvPr>
            <p:ph idx="4294967295" type="body"/>
          </p:nvPr>
        </p:nvSpPr>
        <p:spPr>
          <a:xfrm>
            <a:off x="974925" y="3907150"/>
            <a:ext cx="2725200" cy="9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Literature review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Feasibility analysis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Baseline model evaluation</a:t>
            </a:r>
            <a:endParaRPr sz="1600"/>
          </a:p>
        </p:txBody>
      </p:sp>
      <p:sp>
        <p:nvSpPr>
          <p:cNvPr descr="Background pointer shape in timeline graphic" id="186" name="Google Shape;186;p25"/>
          <p:cNvSpPr/>
          <p:nvPr/>
        </p:nvSpPr>
        <p:spPr>
          <a:xfrm>
            <a:off x="3477623" y="2441525"/>
            <a:ext cx="2051100" cy="7455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5"/>
          <p:cNvSpPr txBox="1"/>
          <p:nvPr>
            <p:ph idx="4294967295" type="body"/>
          </p:nvPr>
        </p:nvSpPr>
        <p:spPr>
          <a:xfrm>
            <a:off x="3773405" y="2579075"/>
            <a:ext cx="1315500" cy="4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</a:rPr>
              <a:t>27.12.25</a:t>
            </a:r>
            <a:endParaRPr sz="1600">
              <a:solidFill>
                <a:schemeClr val="lt1"/>
              </a:solidFill>
            </a:endParaRPr>
          </a:p>
        </p:txBody>
      </p:sp>
      <p:grpSp>
        <p:nvGrpSpPr>
          <p:cNvPr id="188" name="Google Shape;188;p25"/>
          <p:cNvGrpSpPr/>
          <p:nvPr/>
        </p:nvGrpSpPr>
        <p:grpSpPr>
          <a:xfrm>
            <a:off x="4325195" y="1852740"/>
            <a:ext cx="198900" cy="593656"/>
            <a:chOff x="3918084" y="1610215"/>
            <a:chExt cx="198900" cy="593656"/>
          </a:xfrm>
        </p:grpSpPr>
        <p:cxnSp>
          <p:nvCxnSpPr>
            <p:cNvPr id="189" name="Google Shape;189;p25"/>
            <p:cNvCxnSpPr/>
            <p:nvPr/>
          </p:nvCxnSpPr>
          <p:spPr>
            <a:xfrm>
              <a:off x="4017546" y="1649171"/>
              <a:ext cx="0" cy="55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90" name="Google Shape;190;p25"/>
            <p:cNvSpPr/>
            <p:nvPr/>
          </p:nvSpPr>
          <p:spPr>
            <a:xfrm>
              <a:off x="3918084" y="1610215"/>
              <a:ext cx="198900" cy="198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1" name="Google Shape;191;p25"/>
          <p:cNvSpPr txBox="1"/>
          <p:nvPr>
            <p:ph idx="4294967295" type="body"/>
          </p:nvPr>
        </p:nvSpPr>
        <p:spPr>
          <a:xfrm>
            <a:off x="3180026" y="946450"/>
            <a:ext cx="2646300" cy="9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First website version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Initial graph training </a:t>
            </a:r>
            <a:endParaRPr sz="1600"/>
          </a:p>
          <a:p>
            <a:pPr indent="0" lvl="0" marL="0" rtl="1" algn="r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600"/>
          </a:p>
        </p:txBody>
      </p:sp>
      <p:sp>
        <p:nvSpPr>
          <p:cNvPr descr="Background pointer shape in timeline graphic" id="192" name="Google Shape;192;p25"/>
          <p:cNvSpPr/>
          <p:nvPr/>
        </p:nvSpPr>
        <p:spPr>
          <a:xfrm>
            <a:off x="5132543" y="2441525"/>
            <a:ext cx="2051100" cy="7455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5"/>
          <p:cNvSpPr txBox="1"/>
          <p:nvPr>
            <p:ph idx="4294967295" type="body"/>
          </p:nvPr>
        </p:nvSpPr>
        <p:spPr>
          <a:xfrm>
            <a:off x="5422349" y="2579075"/>
            <a:ext cx="1315500" cy="4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</a:rPr>
              <a:t>3</a:t>
            </a:r>
            <a:r>
              <a:rPr lang="en" sz="1600">
                <a:solidFill>
                  <a:schemeClr val="lt1"/>
                </a:solidFill>
              </a:rPr>
              <a:t>.1.26</a:t>
            </a:r>
            <a:endParaRPr sz="1600">
              <a:solidFill>
                <a:schemeClr val="lt1"/>
              </a:solidFill>
            </a:endParaRPr>
          </a:p>
        </p:txBody>
      </p:sp>
      <p:grpSp>
        <p:nvGrpSpPr>
          <p:cNvPr id="194" name="Google Shape;194;p25"/>
          <p:cNvGrpSpPr/>
          <p:nvPr/>
        </p:nvGrpSpPr>
        <p:grpSpPr>
          <a:xfrm>
            <a:off x="5978720" y="3181483"/>
            <a:ext cx="198900" cy="593656"/>
            <a:chOff x="5958946" y="2938958"/>
            <a:chExt cx="198900" cy="593656"/>
          </a:xfrm>
        </p:grpSpPr>
        <p:cxnSp>
          <p:nvCxnSpPr>
            <p:cNvPr id="195" name="Google Shape;195;p25"/>
            <p:cNvCxnSpPr/>
            <p:nvPr/>
          </p:nvCxnSpPr>
          <p:spPr>
            <a:xfrm rot="10800000">
              <a:off x="6058409" y="2938958"/>
              <a:ext cx="0" cy="55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96" name="Google Shape;196;p25"/>
            <p:cNvSpPr/>
            <p:nvPr/>
          </p:nvSpPr>
          <p:spPr>
            <a:xfrm flipH="1" rot="10800000">
              <a:off x="5958946" y="3333714"/>
              <a:ext cx="198900" cy="198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7" name="Google Shape;197;p25"/>
          <p:cNvSpPr txBox="1"/>
          <p:nvPr>
            <p:ph idx="4294967295" type="body"/>
          </p:nvPr>
        </p:nvSpPr>
        <p:spPr>
          <a:xfrm>
            <a:off x="4732350" y="3851550"/>
            <a:ext cx="3079200" cy="9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Training a more advanced model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Connecting the model to the website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600"/>
          </a:p>
        </p:txBody>
      </p:sp>
      <p:sp>
        <p:nvSpPr>
          <p:cNvPr descr="Background pointer shape in timeline graphic" id="198" name="Google Shape;198;p25"/>
          <p:cNvSpPr/>
          <p:nvPr/>
        </p:nvSpPr>
        <p:spPr>
          <a:xfrm>
            <a:off x="6787463" y="2441525"/>
            <a:ext cx="2051100" cy="7455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5"/>
          <p:cNvSpPr txBox="1"/>
          <p:nvPr>
            <p:ph idx="4294967295" type="body"/>
          </p:nvPr>
        </p:nvSpPr>
        <p:spPr>
          <a:xfrm>
            <a:off x="7117162" y="2579075"/>
            <a:ext cx="1315500" cy="4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</a:rPr>
              <a:t>16.01.26</a:t>
            </a:r>
            <a:endParaRPr sz="1600">
              <a:solidFill>
                <a:schemeClr val="lt1"/>
              </a:solidFill>
            </a:endParaRPr>
          </a:p>
        </p:txBody>
      </p:sp>
      <p:grpSp>
        <p:nvGrpSpPr>
          <p:cNvPr id="200" name="Google Shape;200;p25"/>
          <p:cNvGrpSpPr/>
          <p:nvPr/>
        </p:nvGrpSpPr>
        <p:grpSpPr>
          <a:xfrm>
            <a:off x="7675457" y="1852740"/>
            <a:ext cx="198900" cy="593656"/>
            <a:chOff x="3918084" y="1610215"/>
            <a:chExt cx="198900" cy="593656"/>
          </a:xfrm>
        </p:grpSpPr>
        <p:cxnSp>
          <p:nvCxnSpPr>
            <p:cNvPr id="201" name="Google Shape;201;p25"/>
            <p:cNvCxnSpPr/>
            <p:nvPr/>
          </p:nvCxnSpPr>
          <p:spPr>
            <a:xfrm>
              <a:off x="4017546" y="1649171"/>
              <a:ext cx="0" cy="55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02" name="Google Shape;202;p25"/>
            <p:cNvSpPr/>
            <p:nvPr/>
          </p:nvSpPr>
          <p:spPr>
            <a:xfrm>
              <a:off x="3918084" y="1610215"/>
              <a:ext cx="198900" cy="198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3" name="Google Shape;203;p25"/>
          <p:cNvSpPr txBox="1"/>
          <p:nvPr>
            <p:ph idx="4294967295" type="body"/>
          </p:nvPr>
        </p:nvSpPr>
        <p:spPr>
          <a:xfrm>
            <a:off x="6318074" y="741875"/>
            <a:ext cx="2725200" cy="9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Prototype website with risk analysis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Decently trained model</a:t>
            </a:r>
            <a:endParaRPr sz="1600"/>
          </a:p>
        </p:txBody>
      </p:sp>
      <p:sp>
        <p:nvSpPr>
          <p:cNvPr id="204" name="Google Shape;204;p25"/>
          <p:cNvSpPr txBox="1"/>
          <p:nvPr/>
        </p:nvSpPr>
        <p:spPr>
          <a:xfrm>
            <a:off x="512775" y="220075"/>
            <a:ext cx="1706100" cy="5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Timeline</a:t>
            </a:r>
            <a:endParaRPr sz="3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6"/>
          <p:cNvSpPr txBox="1"/>
          <p:nvPr>
            <p:ph type="title"/>
          </p:nvPr>
        </p:nvSpPr>
        <p:spPr>
          <a:xfrm>
            <a:off x="311700" y="418825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Potential Risks and Problems</a:t>
            </a:r>
            <a:endParaRPr/>
          </a:p>
        </p:txBody>
      </p:sp>
      <p:pic>
        <p:nvPicPr>
          <p:cNvPr id="210" name="Google Shape;21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67375" y="564025"/>
            <a:ext cx="3376624" cy="3376624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6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class imbalance</a:t>
            </a:r>
            <a:endParaRPr sz="16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Oversampling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Precision@k-based evaluation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Massive graphs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Mini-batch neighborhood sampling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Label noise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Combine unsupervised methods + anomaly-detection signals </a:t>
            </a:r>
            <a:endParaRPr/>
          </a:p>
          <a:p>
            <a:pPr indent="0" lvl="0" marL="0" rtl="1" algn="r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1" algn="r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