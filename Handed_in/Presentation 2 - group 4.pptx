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y="5143500" cx="9144000"/>
  <p:notesSz cx="6858000" cy="9144000"/>
  <p:embeddedFontLst>
    <p:embeddedFont>
      <p:font typeface="Robot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6EA036F-F39F-47A5-957A-165A8C245E4B}">
  <a:tblStyle styleId="{46EA036F-F39F-47A5-957A-165A8C245E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font" Target="fonts/Roboto-bold.fntdata"/><Relationship Id="rId12" Type="http://schemas.openxmlformats.org/officeDocument/2006/relationships/slide" Target="slides/slide5.xml"/><Relationship Id="rId34" Type="http://schemas.openxmlformats.org/officeDocument/2006/relationships/font" Target="fonts/Roboto-regular.fntdata"/><Relationship Id="rId15" Type="http://schemas.openxmlformats.org/officeDocument/2006/relationships/slide" Target="slides/slide8.xml"/><Relationship Id="rId37" Type="http://schemas.openxmlformats.org/officeDocument/2006/relationships/font" Target="fonts/Roboto-boldItalic.fntdata"/><Relationship Id="rId14" Type="http://schemas.openxmlformats.org/officeDocument/2006/relationships/slide" Target="slides/slide7.xml"/><Relationship Id="rId36" Type="http://schemas.openxmlformats.org/officeDocument/2006/relationships/font" Target="fonts/Roboto-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ed8214dc6_0_27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ed8214dc6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ed8214dc6_0_27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ed8214dc6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הבלוקצ'יין הוא ספר חשבונות דיגיטלי מבוזר שמתעד עסקאות על פני רשת מחשבים, בצורה שקופה ושאינה ניתנת לשינוי.</a:t>
            </a:r>
            <a:br>
              <a:rPr lang="en-GB" sz="16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6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 במקום להסתמך על גורם מרכזי כמו בנק, הרשת כולה מאמתת ומאבטחת כל עסקה.</a:t>
            </a:r>
            <a:endParaRPr sz="16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ed8214dc6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ed8214dc6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ed8214dc6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ed8214dc6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ed8214dc6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ed8214dc6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ed8214dc6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aed8214dc6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ed8214dc6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ed8214dc6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ed8214dc6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aed8214dc6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ed8214dc6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ed8214dc6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ed8214dc6_1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aed8214dc6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ed8214dc6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aed8214dc6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ed8214dc6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aed8214dc6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ed8214dc6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aed8214dc6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aed8214dc6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aed8214dc6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ed8214dc6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aed8214dc6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ed8214dc6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aed8214dc6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aed8214dc6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aed8214dc6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aed8214dc6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aed8214dc6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aed8214dc6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aed8214dc6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aed8214dc6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aed8214dc6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aed8214dc6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aed8214dc6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aed8214dc6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aed8214dc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ed8214dc6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aed8214dc6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aed8214dc6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aed8214dc6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aed8214dc6_2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aed8214dc6_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aed8214dc6_2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aed8214dc6_2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6" name="Google Shape;56;p14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4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" name="Google Shape;61;p14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5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6" name="Google Shape;66;p15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5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5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" name="Google Shape;71;p15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6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75" name="Google Shape;75;p16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6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6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6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6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" name="Google Shape;86;p17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20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97" name="Google Shape;97;p20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0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0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0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0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6" name="Google Shape;106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21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8" name="Google Shape;108;p21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9" name="Google Shape;109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3" name="Google Shape;113;p2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2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6" name="Google Shape;116;p2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1" name="Google Shape;121;p23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2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git-disl/EllipticPlusPlus" TargetMode="External"/><Relationship Id="rId4" Type="http://schemas.openxmlformats.org/officeDocument/2006/relationships/hyperlink" Target="https://github.com/sjdseu/Real-CATS" TargetMode="External"/><Relationship Id="rId5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ctrTitle"/>
          </p:nvPr>
        </p:nvSpPr>
        <p:spPr>
          <a:xfrm>
            <a:off x="598100" y="1134777"/>
            <a:ext cx="8222100" cy="147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/>
              <a:t>Detecting Malicious Blockchain Activity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5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Presenters:</a:t>
            </a:r>
            <a:r>
              <a:rPr lang="en-GB"/>
              <a:t> Ori Sinvani, Nehoray Chalfon, Harel Brener</a:t>
            </a:r>
            <a:br>
              <a:rPr lang="en-GB"/>
            </a:br>
            <a:r>
              <a:rPr b="1" lang="en-GB"/>
              <a:t>Project Advisor:</a:t>
            </a:r>
            <a:r>
              <a:rPr lang="en-GB"/>
              <a:t> Ofer Zevin</a:t>
            </a: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Data science Project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Background</a:t>
            </a:r>
            <a:endParaRPr/>
          </a:p>
        </p:txBody>
      </p:sp>
      <p:grpSp>
        <p:nvGrpSpPr>
          <p:cNvPr id="137" name="Google Shape;137;p26"/>
          <p:cNvGrpSpPr/>
          <p:nvPr/>
        </p:nvGrpSpPr>
        <p:grpSpPr>
          <a:xfrm>
            <a:off x="431925" y="1304875"/>
            <a:ext cx="2628925" cy="3416400"/>
            <a:chOff x="431925" y="1304875"/>
            <a:chExt cx="2628925" cy="3416400"/>
          </a:xfrm>
        </p:grpSpPr>
        <p:sp>
          <p:nvSpPr>
            <p:cNvPr id="138" name="Google Shape;138;p26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6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" name="Google Shape;140;p26"/>
          <p:cNvSpPr txBox="1"/>
          <p:nvPr>
            <p:ph idx="4294967295" type="body"/>
          </p:nvPr>
        </p:nvSpPr>
        <p:spPr>
          <a:xfrm>
            <a:off x="50642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Crypto</a:t>
            </a:r>
            <a:endParaRPr>
              <a:solidFill>
                <a:schemeClr val="lt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41" name="Google Shape;141;p26"/>
          <p:cNvGrpSpPr/>
          <p:nvPr/>
        </p:nvGrpSpPr>
        <p:grpSpPr>
          <a:xfrm>
            <a:off x="3320450" y="1304875"/>
            <a:ext cx="2632500" cy="3416400"/>
            <a:chOff x="3320450" y="1304875"/>
            <a:chExt cx="2632500" cy="3416400"/>
          </a:xfrm>
        </p:grpSpPr>
        <p:sp>
          <p:nvSpPr>
            <p:cNvPr id="142" name="Google Shape;142;p26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6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" name="Google Shape;144;p26"/>
          <p:cNvSpPr txBox="1"/>
          <p:nvPr>
            <p:ph idx="4294967295" type="body"/>
          </p:nvPr>
        </p:nvSpPr>
        <p:spPr>
          <a:xfrm>
            <a:off x="3389450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Problem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5" name="Google Shape;145;p26"/>
          <p:cNvSpPr txBox="1"/>
          <p:nvPr>
            <p:ph idx="4294967295" type="body"/>
          </p:nvPr>
        </p:nvSpPr>
        <p:spPr>
          <a:xfrm>
            <a:off x="3324050" y="1766275"/>
            <a:ext cx="2628900" cy="29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Today the technology is used in part for: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Money laundering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Terror funding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Tax evasion</a:t>
            </a:r>
            <a:endParaRPr sz="1600"/>
          </a:p>
          <a:p>
            <a:pPr indent="0" lvl="0" marL="457200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grpSp>
        <p:nvGrpSpPr>
          <p:cNvPr id="146" name="Google Shape;146;p26"/>
          <p:cNvGrpSpPr/>
          <p:nvPr/>
        </p:nvGrpSpPr>
        <p:grpSpPr>
          <a:xfrm>
            <a:off x="6123250" y="1304875"/>
            <a:ext cx="2632500" cy="3416400"/>
            <a:chOff x="6212550" y="1304875"/>
            <a:chExt cx="2632500" cy="3416400"/>
          </a:xfrm>
        </p:grpSpPr>
        <p:sp>
          <p:nvSpPr>
            <p:cNvPr id="147" name="Google Shape;147;p26"/>
            <p:cNvSpPr/>
            <p:nvPr/>
          </p:nvSpPr>
          <p:spPr>
            <a:xfrm>
              <a:off x="621540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6"/>
            <p:cNvSpPr txBox="1"/>
            <p:nvPr/>
          </p:nvSpPr>
          <p:spPr>
            <a:xfrm>
              <a:off x="6212550" y="1304875"/>
              <a:ext cx="26325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9" name="Google Shape;149;p26"/>
          <p:cNvSpPr txBox="1"/>
          <p:nvPr>
            <p:ph idx="4294967295" type="body"/>
          </p:nvPr>
        </p:nvSpPr>
        <p:spPr>
          <a:xfrm>
            <a:off x="627247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Solution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0" name="Google Shape;150;p26"/>
          <p:cNvSpPr txBox="1"/>
          <p:nvPr>
            <p:ph idx="4294967295" type="body"/>
          </p:nvPr>
        </p:nvSpPr>
        <p:spPr>
          <a:xfrm>
            <a:off x="431925" y="1766275"/>
            <a:ext cx="2628900" cy="29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Blockchain technology </a:t>
            </a:r>
            <a:r>
              <a:rPr lang="en-GB" sz="1600"/>
              <a:t>caused</a:t>
            </a:r>
            <a:r>
              <a:rPr lang="en-GB" sz="1600"/>
              <a:t> a financial revolution 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Instant transfer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Unregulated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Anonymous </a:t>
            </a:r>
            <a:endParaRPr sz="1600"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1" name="Google Shape;151;p26"/>
          <p:cNvSpPr txBox="1"/>
          <p:nvPr>
            <p:ph idx="4294967295" type="body"/>
          </p:nvPr>
        </p:nvSpPr>
        <p:spPr>
          <a:xfrm>
            <a:off x="6123200" y="1766275"/>
            <a:ext cx="2632500" cy="29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There</a:t>
            </a:r>
            <a:r>
              <a:rPr lang="en-GB" sz="1600"/>
              <a:t> is a need for </a:t>
            </a:r>
            <a:r>
              <a:rPr b="1" lang="en-GB" sz="1600"/>
              <a:t>automatic tools</a:t>
            </a:r>
            <a:r>
              <a:rPr lang="en-GB" sz="1600"/>
              <a:t> to track these behaviours</a:t>
            </a:r>
            <a:endParaRPr sz="1600"/>
          </a:p>
          <a:p>
            <a:pPr indent="0" lvl="0" marL="0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type="title"/>
          </p:nvPr>
        </p:nvSpPr>
        <p:spPr>
          <a:xfrm>
            <a:off x="311700" y="4816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Our Clients</a:t>
            </a:r>
            <a:endParaRPr/>
          </a:p>
        </p:txBody>
      </p:sp>
      <p:pic>
        <p:nvPicPr>
          <p:cNvPr id="157" name="Google Shape;15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5275" y="411475"/>
            <a:ext cx="5264325" cy="346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7"/>
          <p:cNvSpPr txBox="1"/>
          <p:nvPr/>
        </p:nvSpPr>
        <p:spPr>
          <a:xfrm>
            <a:off x="142425" y="1614450"/>
            <a:ext cx="8008500" cy="3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Our </a:t>
            </a:r>
            <a:r>
              <a:rPr lang="en-GB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product</a:t>
            </a:r>
            <a:r>
              <a:rPr lang="en-GB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is made for: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-GB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Financial institutions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-GB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Military and police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-GB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Businesses and individuals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Goals &amp; Challenges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Goals</a:t>
            </a:r>
            <a:endParaRPr/>
          </a:p>
        </p:txBody>
      </p:sp>
      <p:sp>
        <p:nvSpPr>
          <p:cNvPr id="169" name="Google Shape;169;p2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Build a system that: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Interaction</a:t>
            </a:r>
            <a:r>
              <a:rPr lang="en-GB"/>
              <a:t> with user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Processes</a:t>
            </a:r>
            <a:r>
              <a:rPr lang="en-GB"/>
              <a:t> real-time transaction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Classification</a:t>
            </a:r>
            <a:r>
              <a:rPr lang="en-GB"/>
              <a:t> of requested wallet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Results Showcase</a:t>
            </a:r>
            <a:r>
              <a:rPr lang="en-GB"/>
              <a:t> to user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6075" y="282499"/>
            <a:ext cx="3806225" cy="212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System Architecture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Technologia </a:t>
            </a:r>
            <a:endParaRPr/>
          </a:p>
        </p:txBody>
      </p:sp>
      <p:sp>
        <p:nvSpPr>
          <p:cNvPr id="181" name="Google Shape;181;p3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261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Literature Review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3" name="Google Shape;19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2137"/>
            <a:ext cx="9143998" cy="483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3"/>
          <p:cNvSpPr/>
          <p:nvPr/>
        </p:nvSpPr>
        <p:spPr>
          <a:xfrm>
            <a:off x="2660775" y="1404575"/>
            <a:ext cx="840900" cy="197700"/>
          </a:xfrm>
          <a:prstGeom prst="rect">
            <a:avLst/>
          </a:prstGeom>
          <a:solidFill>
            <a:srgbClr val="D1D8E9"/>
          </a:solidFill>
          <a:ln cap="flat" cmpd="sng" w="9525">
            <a:solidFill>
              <a:srgbClr val="D1D8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4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Exploratory Data Analysis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</a:t>
            </a:r>
            <a:endParaRPr/>
          </a:p>
        </p:txBody>
      </p:sp>
      <p:sp>
        <p:nvSpPr>
          <p:cNvPr id="205" name="Google Shape;205;p3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Elliptic</a:t>
            </a:r>
            <a:endParaRPr b="1"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Bitcoin, 203K labeled transactions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Anonymized features</a:t>
            </a:r>
            <a:endParaRPr sz="16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b="1" lang="en-GB" sz="16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Real-CATS</a:t>
            </a:r>
            <a:r>
              <a:rPr b="1" lang="en-GB" sz="1600"/>
              <a:t> </a:t>
            </a:r>
            <a:endParaRPr b="1"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Over 200K labeled wallets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Bitcoin &amp; Ethereum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25 </a:t>
            </a:r>
            <a:r>
              <a:rPr lang="en-GB" sz="1600"/>
              <a:t>Features</a:t>
            </a:r>
            <a:endParaRPr sz="1600"/>
          </a:p>
          <a:p>
            <a:pPr indent="0" lvl="0" marL="9144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91440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206" name="Google Shape;206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99950" y="1017800"/>
            <a:ext cx="3768775" cy="251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Elliptic</a:t>
            </a:r>
            <a:r>
              <a:rPr lang="en-GB"/>
              <a:t> ++ - EDA</a:t>
            </a:r>
            <a:endParaRPr/>
          </a:p>
        </p:txBody>
      </p:sp>
      <p:sp>
        <p:nvSpPr>
          <p:cNvPr id="212" name="Google Shape;212;p3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Dataset Shapes: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Transactions: (203769, 186)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Wallets: (1268260, 59)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Transaction edges: (234355, 2)</a:t>
            </a:r>
            <a:endParaRPr/>
          </a:p>
        </p:txBody>
      </p:sp>
      <p:pic>
        <p:nvPicPr>
          <p:cNvPr id="213" name="Google Shape;21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500" y="2428875"/>
            <a:ext cx="7749002" cy="2550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2113" y="3178075"/>
            <a:ext cx="145999" cy="8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Transactions over time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21" name="Google Shape;22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4200" y="997062"/>
            <a:ext cx="6110450" cy="3804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0884" y="908855"/>
            <a:ext cx="145999" cy="8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Missing values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29" name="Google Shape;22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71275"/>
            <a:ext cx="9144000" cy="3497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6738" y="4673700"/>
            <a:ext cx="145999" cy="8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Licit vs Illicit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37" name="Google Shape;23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3613" y="259775"/>
            <a:ext cx="145999" cy="8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5337" y="1413887"/>
            <a:ext cx="7553324" cy="297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Licit vs Illicit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4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45" name="Google Shape;24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0700" y="998750"/>
            <a:ext cx="5868674" cy="412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Class Distribution In Network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51" name="Google Shape;251;p41"/>
          <p:cNvGraphicFramePr/>
          <p:nvPr/>
        </p:nvGraphicFramePr>
        <p:xfrm>
          <a:off x="914400" y="1017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{46EA036F-F39F-47A5-957A-165A8C245E4B}</a:tableStyleId>
              </a:tblPr>
              <a:tblGrid>
                <a:gridCol w="2438400"/>
                <a:gridCol w="2438400"/>
                <a:gridCol w="2438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From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To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Count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Unknown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Unknown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131,778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Unknown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Licit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45,386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Licit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Licit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33,930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Licit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Unknown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15,116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Unknown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Illicit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3,993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Illicit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Unknown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1,458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Illicit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Illicit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998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Illicit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Licit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915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Licit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Illicit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781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Elliptic ++ - EDA - Wallet Feature Correlation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4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58" name="Google Shape;25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6325" y="1017800"/>
            <a:ext cx="4356649" cy="407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0338" y="980225"/>
            <a:ext cx="145999" cy="8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Elliptic ++ - EDA - Transaction Feature Correlation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4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2301" y="1017800"/>
            <a:ext cx="4427337" cy="41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55413" y="77375"/>
            <a:ext cx="145999" cy="8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Elliptic ++ - EDA - Feature Correlation To Class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4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3727" y="1102200"/>
            <a:ext cx="5496499" cy="3913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713" y="4927625"/>
            <a:ext cx="145999" cy="8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Elliptic ++ - EDA - Feature Correlation To Class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4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82" name="Google Shape;28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6914" y="1017800"/>
            <a:ext cx="5790177" cy="41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28063" y="4947300"/>
            <a:ext cx="145999" cy="8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REAL-CATS EDA</a:t>
            </a:r>
            <a:endParaRPr/>
          </a:p>
        </p:txBody>
      </p:sp>
      <p:sp>
        <p:nvSpPr>
          <p:cNvPr id="289" name="Google Shape;289;p46"/>
          <p:cNvSpPr txBox="1"/>
          <p:nvPr>
            <p:ph idx="1" type="body"/>
          </p:nvPr>
        </p:nvSpPr>
        <p:spPr>
          <a:xfrm>
            <a:off x="311700" y="12094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Data composition:</a:t>
            </a:r>
            <a:endParaRPr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 sz="1200"/>
              <a:t>Total </a:t>
            </a:r>
            <a:r>
              <a:rPr lang="en-GB" sz="1200"/>
              <a:t>addresses</a:t>
            </a:r>
            <a:r>
              <a:rPr lang="en-GB" sz="1200"/>
              <a:t>: 126,615 Bitcoin addresses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 sz="1200"/>
              <a:t>Criminal Addresses: 40,032 (31.6%)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 sz="1200"/>
              <a:t>Benign Addresses: 86,583 (68.4%)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 sz="1200"/>
              <a:t>Class Balance: 1:2.16 ratio</a:t>
            </a:r>
            <a:endParaRPr sz="12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Filtering: Removed zero-transaction addresses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Data quality: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Complete Features: 26 out of 37 features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High Missing (&gt;10%): 10 features</a:t>
            </a:r>
            <a:br>
              <a:rPr lang="en-GB" sz="1600"/>
            </a:br>
            <a:r>
              <a:rPr lang="en-GB" sz="1600"/>
              <a:t>(mostly transaction detail fields)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290" name="Google Shape;29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8700" y="1259087"/>
            <a:ext cx="3111825" cy="323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Transaction Patterns</a:t>
            </a:r>
            <a:endParaRPr/>
          </a:p>
        </p:txBody>
      </p:sp>
      <p:sp>
        <p:nvSpPr>
          <p:cNvPr id="296" name="Google Shape;296;p4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297" name="Google Shape;297;p47"/>
          <p:cNvGraphicFramePr/>
          <p:nvPr/>
        </p:nvGraphicFramePr>
        <p:xfrm>
          <a:off x="311700" y="148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{46EA036F-F39F-47A5-957A-165A8C245E4B}</a:tableStyleId>
              </a:tblPr>
              <a:tblGrid>
                <a:gridCol w="1427525"/>
                <a:gridCol w="1427525"/>
                <a:gridCol w="1427525"/>
                <a:gridCol w="1427525"/>
                <a:gridCol w="1427525"/>
              </a:tblGrid>
              <a:tr h="58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Metric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Criminal Median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Benign Median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Difference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Significance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</a:tr>
              <a:tr h="58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Transaction Count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2.0x higher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Criminals are more active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9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Total Received (USD)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$2,433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$1,591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53% higher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Criminals</a:t>
                      </a:r>
                      <a:r>
                        <a:rPr lang="en-GB"/>
                        <a:t> have </a:t>
                      </a:r>
                      <a:r>
                        <a:rPr lang="en-GB"/>
                        <a:t>Higher volumes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8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Total Sent (USD)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$2,426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$1,049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131% higher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Criminals send much more money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 Correlation</a:t>
            </a:r>
            <a:endParaRPr/>
          </a:p>
        </p:txBody>
      </p:sp>
      <p:sp>
        <p:nvSpPr>
          <p:cNvPr id="303" name="Google Shape;303;p4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04" name="Google Shape;30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29875"/>
            <a:ext cx="3831000" cy="3511724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8"/>
          <p:cNvSpPr txBox="1"/>
          <p:nvPr/>
        </p:nvSpPr>
        <p:spPr>
          <a:xfrm>
            <a:off x="4465850" y="1916675"/>
            <a:ext cx="4466400" cy="21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08000" lvl="0" marL="50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33333"/>
                </a:solidFill>
              </a:rPr>
              <a:t>1. </a:t>
            </a:r>
            <a:r>
              <a:rPr b="1" lang="en-GB">
                <a:solidFill>
                  <a:srgbClr val="333333"/>
                </a:solidFill>
              </a:rPr>
              <a:t>totalreceivedBTC</a:t>
            </a:r>
            <a:r>
              <a:rPr b="1" lang="en-GB">
                <a:solidFill>
                  <a:srgbClr val="333333"/>
                </a:solidFill>
              </a:rPr>
              <a:t> ↔ </a:t>
            </a:r>
            <a:r>
              <a:rPr b="1" lang="en-GB">
                <a:solidFill>
                  <a:srgbClr val="333333"/>
                </a:solidFill>
              </a:rPr>
              <a:t>totalsentBTC</a:t>
            </a:r>
            <a:r>
              <a:rPr lang="en-GB">
                <a:solidFill>
                  <a:srgbClr val="333333"/>
                </a:solidFill>
              </a:rPr>
              <a:t>: 1.000</a:t>
            </a:r>
            <a:endParaRPr>
              <a:solidFill>
                <a:srgbClr val="333333"/>
              </a:solidFill>
            </a:endParaRPr>
          </a:p>
          <a:p>
            <a:pPr indent="-508000" lvl="0" marL="50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33333"/>
                </a:solidFill>
              </a:rPr>
              <a:t>2. </a:t>
            </a:r>
            <a:r>
              <a:rPr b="1" lang="en-GB">
                <a:solidFill>
                  <a:srgbClr val="333333"/>
                </a:solidFill>
              </a:rPr>
              <a:t>totalreceivedUSD</a:t>
            </a:r>
            <a:r>
              <a:rPr b="1" lang="en-GB">
                <a:solidFill>
                  <a:srgbClr val="333333"/>
                </a:solidFill>
              </a:rPr>
              <a:t> ↔ </a:t>
            </a:r>
            <a:r>
              <a:rPr b="1" lang="en-GB">
                <a:solidFill>
                  <a:srgbClr val="333333"/>
                </a:solidFill>
              </a:rPr>
              <a:t>totalsentUSD</a:t>
            </a:r>
            <a:r>
              <a:rPr lang="en-GB">
                <a:solidFill>
                  <a:srgbClr val="333333"/>
                </a:solidFill>
              </a:rPr>
              <a:t>: 1.000</a:t>
            </a:r>
            <a:endParaRPr>
              <a:solidFill>
                <a:srgbClr val="333333"/>
              </a:solidFill>
            </a:endParaRPr>
          </a:p>
          <a:p>
            <a:pPr indent="-508000" lvl="0" marL="50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33333"/>
                </a:solidFill>
              </a:rPr>
              <a:t>3. </a:t>
            </a:r>
            <a:r>
              <a:rPr b="1" lang="en-GB">
                <a:solidFill>
                  <a:srgbClr val="333333"/>
                </a:solidFill>
              </a:rPr>
              <a:t>totaloutputslots</a:t>
            </a:r>
            <a:r>
              <a:rPr b="1" lang="en-GB">
                <a:solidFill>
                  <a:srgbClr val="333333"/>
                </a:solidFill>
              </a:rPr>
              <a:t> ↔ </a:t>
            </a:r>
            <a:r>
              <a:rPr b="1" lang="en-GB">
                <a:solidFill>
                  <a:srgbClr val="333333"/>
                </a:solidFill>
              </a:rPr>
              <a:t>totalinputslots</a:t>
            </a:r>
            <a:r>
              <a:rPr lang="en-GB">
                <a:solidFill>
                  <a:srgbClr val="333333"/>
                </a:solidFill>
              </a:rPr>
              <a:t>: 0.999</a:t>
            </a:r>
            <a:endParaRPr>
              <a:solidFill>
                <a:srgbClr val="333333"/>
              </a:solidFill>
            </a:endParaRPr>
          </a:p>
          <a:p>
            <a:pPr indent="-508000" lvl="0" marL="50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33333"/>
                </a:solidFill>
              </a:rPr>
              <a:t>4. </a:t>
            </a:r>
            <a:r>
              <a:rPr b="1" lang="en-GB">
                <a:solidFill>
                  <a:srgbClr val="333333"/>
                </a:solidFill>
              </a:rPr>
              <a:t>transactionnumber</a:t>
            </a:r>
            <a:r>
              <a:rPr b="1" lang="en-GB">
                <a:solidFill>
                  <a:srgbClr val="333333"/>
                </a:solidFill>
              </a:rPr>
              <a:t> ↔ </a:t>
            </a:r>
            <a:r>
              <a:rPr b="1" lang="en-GB">
                <a:solidFill>
                  <a:srgbClr val="333333"/>
                </a:solidFill>
              </a:rPr>
              <a:t>receipttransactions</a:t>
            </a:r>
            <a:r>
              <a:rPr lang="en-GB">
                <a:solidFill>
                  <a:srgbClr val="333333"/>
                </a:solidFill>
              </a:rPr>
              <a:t>: 0.995</a:t>
            </a:r>
            <a:endParaRPr>
              <a:solidFill>
                <a:srgbClr val="333333"/>
              </a:solidFill>
            </a:endParaRPr>
          </a:p>
          <a:p>
            <a:pPr indent="-508000" lvl="0" marL="50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33333"/>
                </a:solidFill>
              </a:rPr>
              <a:t>5. </a:t>
            </a:r>
            <a:r>
              <a:rPr b="1" lang="en-GB">
                <a:solidFill>
                  <a:srgbClr val="333333"/>
                </a:solidFill>
              </a:rPr>
              <a:t>activityw</a:t>
            </a:r>
            <a:r>
              <a:rPr b="1" lang="en-GB">
                <a:solidFill>
                  <a:srgbClr val="333333"/>
                </a:solidFill>
              </a:rPr>
              <a:t> ↔ </a:t>
            </a:r>
            <a:r>
              <a:rPr b="1" lang="en-GB">
                <a:solidFill>
                  <a:srgbClr val="333333"/>
                </a:solidFill>
              </a:rPr>
              <a:t>activitytime</a:t>
            </a:r>
            <a:r>
              <a:rPr lang="en-GB">
                <a:solidFill>
                  <a:srgbClr val="333333"/>
                </a:solidFill>
              </a:rPr>
              <a:t>: 0.995</a:t>
            </a:r>
            <a:endParaRPr>
              <a:solidFill>
                <a:srgbClr val="333333"/>
              </a:solidFill>
            </a:endParaRPr>
          </a:p>
        </p:txBody>
      </p:sp>
      <p:sp>
        <p:nvSpPr>
          <p:cNvPr id="306" name="Google Shape;306;p48"/>
          <p:cNvSpPr txBox="1"/>
          <p:nvPr/>
        </p:nvSpPr>
        <p:spPr>
          <a:xfrm>
            <a:off x="4465850" y="1527275"/>
            <a:ext cx="34836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u="sng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Top Problematic Correlations</a:t>
            </a:r>
            <a:endParaRPr sz="1700" u="sng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Criminal Address Analysis</a:t>
            </a:r>
            <a:endParaRPr/>
          </a:p>
        </p:txBody>
      </p:sp>
      <p:sp>
        <p:nvSpPr>
          <p:cNvPr id="312" name="Google Shape;312;p4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13" name="Google Shape;31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29875"/>
            <a:ext cx="5048949" cy="333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9"/>
          <p:cNvSpPr txBox="1"/>
          <p:nvPr/>
        </p:nvSpPr>
        <p:spPr>
          <a:xfrm>
            <a:off x="5736350" y="1351250"/>
            <a:ext cx="2943900" cy="292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/>
              <a:t>Prevalence vs. Perception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Simple scams and ransomware remain the dominant forms of Bitcoin criminal activity.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Volume: These "low-tech" crimes represent the vast majority of illicit volume.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Specialization: Mixing services represent a much smaller, highly specialized segment of the criminal ecosystem.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Criminal Address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5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21" name="Google Shape;32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29875"/>
            <a:ext cx="4864525" cy="333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50"/>
          <p:cNvSpPr txBox="1"/>
          <p:nvPr/>
        </p:nvSpPr>
        <p:spPr>
          <a:xfrm>
            <a:off x="5647550" y="1426400"/>
            <a:ext cx="2923500" cy="309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u="sng"/>
              <a:t>The Metric:</a:t>
            </a:r>
            <a:r>
              <a:rPr lang="en-GB" sz="1300"/>
              <a:t>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/>
              <a:t>Transaction frequency proxies for organizational sophistication.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u="sng"/>
              <a:t>Structured:</a:t>
            </a:r>
            <a:r>
              <a:rPr lang="en-GB" sz="1300"/>
              <a:t>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/>
              <a:t>High frequency; requires continuous liquidity.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u="sng"/>
              <a:t>Opportunistic:</a:t>
            </a:r>
            <a:r>
              <a:rPr lang="en-GB" sz="1300"/>
              <a:t>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/>
              <a:t>Low frequency; relies on disposable wallets.</a:t>
            </a:r>
            <a:endParaRPr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