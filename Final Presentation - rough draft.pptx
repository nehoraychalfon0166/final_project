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Basic GCN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94A3B8"/>
                    </a:solidFill>
                    <a:latin typeface="JetBrains Mono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Recall</c:v>
                </c:pt>
                <c:pt idx="2">
                  <c:v>F1</c:v>
                </c:pt>
                <c:pt idx="3">
                  <c:v>ROC-AUC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70.099999999999994</c:v>
                </c:pt>
                <c:pt idx="1">
                  <c:v>52.2</c:v>
                </c:pt>
                <c:pt idx="2">
                  <c:v>58.2</c:v>
                </c:pt>
                <c:pt idx="3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8A-6545-ADEB-9139E84652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(features only)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94A3B8"/>
                    </a:solidFill>
                    <a:latin typeface="JetBrains Mono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Recall</c:v>
                </c:pt>
                <c:pt idx="2">
                  <c:v>F1</c:v>
                </c:pt>
                <c:pt idx="3">
                  <c:v>ROC-AUC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82.6</c:v>
                </c:pt>
                <c:pt idx="1">
                  <c:v>67.3</c:v>
                </c:pt>
                <c:pt idx="2">
                  <c:v>75.5</c:v>
                </c:pt>
                <c:pt idx="3">
                  <c:v>90.9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8A-6545-ADEB-9139E84652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 GATv2 GNN</c:v>
                </c:pt>
              </c:strCache>
            </c:strRef>
          </c:tx>
          <c:spPr>
            <a:solidFill>
              <a:srgbClr val="F793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94A3B8"/>
                    </a:solidFill>
                    <a:latin typeface="JetBrains Mono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Recall</c:v>
                </c:pt>
                <c:pt idx="2">
                  <c:v>F1</c:v>
                </c:pt>
                <c:pt idx="3">
                  <c:v>ROC-AUC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89.4</c:v>
                </c:pt>
                <c:pt idx="1">
                  <c:v>88.4</c:v>
                </c:pt>
                <c:pt idx="2">
                  <c:v>86.9</c:v>
                </c:pt>
                <c:pt idx="3">
                  <c:v>95.9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8A-6545-ADEB-9139E84652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8FAFC"/>
                </a:solidFill>
                <a:latin typeface="Urbanis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8FAFC"/>
              </a:solidFill>
              <a:latin typeface="Urbanist"/>
              <a:cs typeface="Urbanis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B871A-4110-4349-9D1B-658E9C8C5E9B}" type="datetimeFigureOut">
              <a:rPr lang="en-IL" smtClean="0"/>
              <a:t>10/06/2026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25D0-A896-994B-B583-9BB0617E0D1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693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horayChalfon0166/final_project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063" y="130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1025" y="583589"/>
            <a:ext cx="115815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Detecting </a:t>
            </a:r>
            <a:r>
              <a:rPr lang="en-US" sz="5400" b="0" i="0" u="none" strike="noStrike" cap="none">
                <a:solidFill>
                  <a:srgbClr val="F793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Criminal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Wallets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81025" y="3326010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STUDENTS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81025" y="5288160"/>
            <a:ext cx="5324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4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6677025" y="332601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INSTRUCTOR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6677025" y="3821310"/>
            <a:ext cx="4934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Ofer Zevin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690088" y="4501123"/>
            <a:ext cx="49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8BDF8"/>
                </a:solidFill>
                <a:uFill>
                  <a:noFill/>
                </a:uFill>
                <a:latin typeface="Urbanist SemiBold"/>
                <a:ea typeface="Urbanist SemiBold"/>
                <a:cs typeface="Urbanist SemiBold"/>
                <a:sym typeface="Urbanist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81025" y="37070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Nehoray Chalfon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42023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Ori Sinvani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46976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Harel Brener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899" y="4516635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BITCOIN IN NUMBERS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$1.2T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market capitalization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25M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</a:rPr>
              <a:t>Active wallets on the blockchain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545K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transactions every single day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35661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629400" y="3794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$14.8B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675120" y="4709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moved on-chain every 24 hours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68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$154B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21208" y="23317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received by illicit crypto addresses in 2025 alone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21208" y="3154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Every Bitcoin transaction is </a:t>
            </a:r>
            <a:r>
              <a:rPr lang="en-US" sz="24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public</a:t>
            </a: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.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Yet criminal wallets hide among 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hundreds of millions</a:t>
            </a: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of look-alike addresses.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663440" cy="3108960"/>
          </a:xfrm>
          <a:prstGeom prst="roundRect">
            <a:avLst>
              <a:gd name="adj" fmla="val 2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0" descr="/sessions/loving-relaxed-planck/mnt/outputs/unp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83080"/>
            <a:ext cx="4206240" cy="2075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6948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 Hamas funding campaign via blockchain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040880" y="5120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Crime on the blockchain hides in plain sight.</a:t>
            </a:r>
            <a:endParaRPr lang="en-US" sz="18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F2E17A4-C094-918B-AC09-C732F00BF279}"/>
              </a:ext>
            </a:extLst>
          </p:cNvPr>
          <p:cNvSpPr/>
          <p:nvPr/>
        </p:nvSpPr>
        <p:spPr>
          <a:xfrm>
            <a:off x="579120" y="182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PROBLEM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GOAL &amp; APPROACH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60350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Classify any Bitcoin wallet as </a:t>
            </a:r>
            <a:r>
              <a:rPr lang="en-US" sz="19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criminal</a:t>
            </a: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or </a:t>
            </a:r>
            <a:r>
              <a:rPr lang="en-US" sz="19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benign</a:t>
            </a: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from its on-chain behavior and graph neighborhood — served as a usable web tool.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6035040" cy="233172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REAL-CATS</a:t>
            </a: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— 40,032 criminal + 90,176 benign labeled addresses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Elliptic++</a:t>
            </a: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— 822K addresses with transaction features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Wallets + transactions form a graph</a:t>
            </a: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— each address is a node, payments are edges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800600" cy="484632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203612" y="2387235"/>
            <a:ext cx="1116851" cy="9197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101584" y="2450592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0.42 BTC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H="1">
            <a:off x="9753241" y="2315382"/>
            <a:ext cx="970721" cy="970721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0067544" y="2404872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2.10 BTC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8041693" y="3577342"/>
            <a:ext cx="1243608" cy="401781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101584" y="3648772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0.07 BTC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99512" y="3598618"/>
            <a:ext cx="1076970" cy="44925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9849234" y="3713947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1.30 BTC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V="1">
            <a:off x="8806818" y="3751151"/>
            <a:ext cx="601745" cy="1127479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503920" y="4357116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5.80 BTC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55480" y="3744681"/>
            <a:ext cx="551676" cy="1272101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592970" y="4398264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0.95 BTC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18120" y="2039112"/>
            <a:ext cx="347472" cy="34747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0744200" y="1947672"/>
            <a:ext cx="347472" cy="347472"/>
          </a:xfrm>
          <a:prstGeom prst="ellipse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7589520" y="3895344"/>
            <a:ext cx="347472" cy="34747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0972800" y="3986784"/>
            <a:ext cx="347472" cy="34747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8503920" y="4946904"/>
            <a:ext cx="347472" cy="347472"/>
          </a:xfrm>
          <a:prstGeom prst="ellipse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10149840" y="5111496"/>
            <a:ext cx="347472" cy="347472"/>
          </a:xfrm>
          <a:prstGeom prst="ellipse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9299448" y="3246120"/>
            <a:ext cx="493776" cy="493776"/>
          </a:xfrm>
          <a:prstGeom prst="ellipse">
            <a:avLst/>
          </a:prstGeom>
          <a:solidFill>
            <a:srgbClr val="F7931A"/>
          </a:solidFill>
          <a:ln w="254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9299448" y="3246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?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269480" y="596188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7525512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benign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04581" y="596188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8560613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illicit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10090" y="596188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9666122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wallet under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WHY OUR APPROACH IS DIFFERENT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EXISTING APPROACHES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Manual blockchain forensics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Chainalysis-style — accurate but slow, expensive, closed-source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Feature-only ML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867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XGBoost on hand-crafted features — blind to graph structure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7091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22960" y="4873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 academic work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Transaction-level labels on Elliptic(2016) — risk of being outdated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PROJECT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75688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14032" y="20391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Dataset variety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114032" y="2450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REAL-CATS(2023), Elliptic(2016) combined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0" y="32918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93008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14032" y="34564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Graph structure + attention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7114032" y="38679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GATv2 learns which neighbors are suspicious context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0" y="47091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91032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14032" y="4873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End-to-end live system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7114032" y="52852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Any address → mempool.space → calibrated risk score in a web app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OUR SOLUTION — THE PIPELINE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201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/sessions/loving-relaxed-planck/mnt/final_project/outputs/poster/bitcoin_wallet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10652760" cy="1499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Features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12 selected of 19 behavioral features per wallet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64992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3593592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Ego-graphs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593592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1-hop neighborhood graph built per wallet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27064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6455664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GATv2 GNN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55664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Attention over neighbors → embedding → classifier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89136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9317736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Risk score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317736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Temperature-calibrated probability served via API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MODEL — OPTIMALBITCOINGNN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 × GATv2 layers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19385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Multi-head attention: 4 → 4 → 2 heads, edge features included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8775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5420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Residual connections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2926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Stable training for deeper graph propagation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7530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5295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3-way pooling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960120" y="39136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Center node + mean + max → 192-d wallet embedding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6285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5171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Calibrated output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960120" y="4901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Temperature scaling → probabilities you can trust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02920" y="5486400"/>
            <a:ext cx="6400800" cy="1005840"/>
          </a:xfrm>
          <a:prstGeom prst="roundRect">
            <a:avLst>
              <a:gd name="adj" fmla="val 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0"/>
          <p:cNvSpPr/>
          <p:nvPr/>
        </p:nvSpPr>
        <p:spPr>
          <a:xfrm>
            <a:off x="777240" y="5623560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Why attention?  </a:t>
            </a:r>
            <a:r>
              <a:rPr lang="en-US" sz="13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Not all neighbors matter equally — the model learns which counterparties are suspicious context.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406640" y="1234440"/>
            <a:ext cx="4297680" cy="534924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mage 4" descr="/sessions/loving-relaxed-planck/mnt/final_project/outputs/poster/gnn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1371600"/>
            <a:ext cx="341985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DEMO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65200" y="1587843"/>
            <a:ext cx="9631680" cy="4480560"/>
          </a:xfrm>
          <a:prstGeom prst="roundRect">
            <a:avLst>
              <a:gd name="adj" fmla="val 183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WhatsApp Video 2026-06-11 at 09.24.54.mp4">
            <a:hlinkClick r:id="" action="ppaction://media"/>
            <a:extLst>
              <a:ext uri="{FF2B5EF4-FFF2-40B4-BE49-F238E27FC236}">
                <a16:creationId xmlns:a16="http://schemas.microsoft.com/office/drawing/2014/main" id="{89995406-16FD-AB77-288A-00B3C2BCF4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3943" r="2481" b="5319"/>
          <a:stretch>
            <a:fillRect/>
          </a:stretch>
        </p:blipFill>
        <p:spPr>
          <a:xfrm>
            <a:off x="965200" y="1587843"/>
            <a:ext cx="9631680" cy="448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1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RESULTS —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11,880 held-out wallets · 4,740 criminal · never seen in training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89.4%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364992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0.959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64992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ROC-AUC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227064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88.3%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27064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Recall (criminal)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89136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089136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0.87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89136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F1 (criminal)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457200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0" descr="/sessions/loving-relaxed-planck/mnt/final_project/outputs/poster/roc_curv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218688"/>
            <a:ext cx="3072384" cy="31272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321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CONFUSION MATRIX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611880"/>
          <a:ext cx="6172200" cy="181965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Pred. Benign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Pred. Criminal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Actual Benign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8BD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6,432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F793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708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Actual Criminal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F793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550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8BD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4,190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532120" y="576072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Only 550 of 4,740 criminal wallets missed.  </a:t>
            </a:r>
            <a:r>
              <a:rPr lang="en-US" sz="14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Recall is what matters when screening for crime.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DOES GRAPH STRUCTURE MATTER?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Same 12 features, same test set — three models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08760"/>
          <a:ext cx="74066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8458200" y="1965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+21 pts recall
</a:t>
            </a:r>
            <a:r>
              <a:rPr lang="en-US" sz="13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over XGBoost — the strongest feature-only baseline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183880" y="406908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8458200" y="4297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Why?  </a:t>
            </a:r>
            <a:r>
              <a:rPr lang="en-US" sz="13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criminals XGBoost misses are the ones hiding behind normal-looking features. Their neighborhood exposes them.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LIMITATIONS &amp; FUTURE WORK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490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210312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82296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Labels are imperfect and dated — criminal behavior drifts over time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338328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Ego-graphs limited to 1 hop — long laundering chains can escape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02920" y="466344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 formal user study of the web tool yet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508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490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210312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/>
          <p:nvPr/>
        </p:nvSpPr>
        <p:spPr>
          <a:xfrm>
            <a:off x="672084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Temporal GNNs — model how wallet behavior evolves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0" y="338328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2"/>
          <p:cNvSpPr/>
          <p:nvPr/>
        </p:nvSpPr>
        <p:spPr>
          <a:xfrm>
            <a:off x="672084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Deeper / larger graphs with sampling for full-chain coverage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00800" y="466344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672084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Exchange integration: real-time screening at deposit time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11430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Graph structure is essential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Connections catch criminals that features alone miss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1430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645152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5152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Attention wins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45152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GATv2: 89.4% accuracy, +21 pts recall over a strong XGBoost baseline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11430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467344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67344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It's a real tool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67344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Live address → calibrated risk score, not just a notebook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blockchain is public —
</a:t>
            </a: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 built the lens</a:t>
            </a:r>
            <a:r>
              <a:rPr lang="en-US" sz="4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that makes crime on it </a:t>
            </a:r>
            <a:r>
              <a:rPr lang="en-US" sz="40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visible</a:t>
            </a:r>
            <a:r>
              <a:rPr lang="en-US" sz="4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" y="594360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Thank you  ·  Questions?</a:t>
            </a:r>
            <a:endParaRPr lang="en-US" sz="18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49CA2D22-307F-5EDC-6FB8-D2A9DB9A1976}"/>
              </a:ext>
            </a:extLst>
          </p:cNvPr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SUMMARY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612</Words>
  <Application>Microsoft Macintosh PowerPoint</Application>
  <PresentationFormat>Widescreen</PresentationFormat>
  <Paragraphs>134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Calibri</vt:lpstr>
      <vt:lpstr>JetBrains Mono</vt:lpstr>
      <vt:lpstr>Roboto</vt:lpstr>
      <vt:lpstr>Urbanist</vt:lpstr>
      <vt:lpstr>Urbanist ExtraBold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Criminal Wallets - GNN Analysis</dc:title>
  <dc:subject>PptxGenJS Presentation</dc:subject>
  <dc:creator>Group 4</dc:creator>
  <cp:lastModifiedBy>אורי סנואני</cp:lastModifiedBy>
  <cp:revision>6</cp:revision>
  <dcterms:created xsi:type="dcterms:W3CDTF">2026-06-10T11:47:29Z</dcterms:created>
  <dcterms:modified xsi:type="dcterms:W3CDTF">2026-06-11T12:06:42Z</dcterms:modified>
</cp:coreProperties>
</file>