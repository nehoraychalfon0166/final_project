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regular.fntdata"/><Relationship Id="rId21" Type="http://schemas.openxmlformats.org/officeDocument/2006/relationships/slide" Target="slides/slide16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80e6b0a3b_1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80e6b0a3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הבלוקצ'יין הוא ספר חשבונות דיגיטלי מבוזר שמתעד עסקאות על פני רשת מחשבים, בצורה שקופה ושאינה ניתנת לשינוי.</a:t>
            </a:r>
            <a:br>
              <a:rPr lang="en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 במקום להסתמך על גורם מרכזי כמו בנק, הרשת כולה מאמתת ומאבטחת כל עסקה.</a:t>
            </a:r>
            <a:endParaRPr sz="16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80e6b0a3b_1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80e6b0a3b_1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813d055fa_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813d055fa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813d055fa_2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813d055fa_2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c6f9e470d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c6f9e470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813d055fa_1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813d055f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c6f9e470d_0_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c6f9e470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813d055fa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b813d055f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813d055fa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b813d055fa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813d055fa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b813d055fa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813d055fa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b813d055fa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813d055fa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b813d055fa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813d055fa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b813d055fa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813d055fa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b813d055fa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c6f9e470d_0_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c6f9e470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NehorayChalfon0166/final_project.git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git-disl/EllipticPlusPlus" TargetMode="External"/><Relationship Id="rId4" Type="http://schemas.openxmlformats.org/officeDocument/2006/relationships/hyperlink" Target="https://github.com/sjdseu/Real-CATS" TargetMode="External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6704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Detecting Criminal Wallets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100" y="1927952"/>
            <a:ext cx="8222100" cy="15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Students: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/>
              <a:t>Nehoray Chalfon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/>
              <a:t>Ori Sinvani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/>
              <a:t>Harel Brener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98100" y="4374725"/>
            <a:ext cx="13251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Group 4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804750" y="1927950"/>
            <a:ext cx="1717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Instructor: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-"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Ofer Zevin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699707" y="4374716"/>
            <a:ext cx="20319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Github repo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284875" y="321225"/>
            <a:ext cx="22914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Background</a:t>
            </a:r>
            <a:endParaRPr/>
          </a:p>
        </p:txBody>
      </p:sp>
      <p:grpSp>
        <p:nvGrpSpPr>
          <p:cNvPr id="96" name="Google Shape;96;p14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97" name="Google Shape;97;p14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14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Crypto</a:t>
            </a:r>
            <a:endParaRPr>
              <a:solidFill>
                <a:schemeClr val="lt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00" name="Google Shape;100;p14"/>
          <p:cNvGrpSpPr/>
          <p:nvPr/>
        </p:nvGrpSpPr>
        <p:grpSpPr>
          <a:xfrm>
            <a:off x="3320450" y="1304875"/>
            <a:ext cx="2632500" cy="3416400"/>
            <a:chOff x="3320450" y="1304875"/>
            <a:chExt cx="2632500" cy="3416400"/>
          </a:xfrm>
        </p:grpSpPr>
        <p:sp>
          <p:nvSpPr>
            <p:cNvPr id="101" name="Google Shape;101;p14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4"/>
          <p:cNvSpPr txBox="1"/>
          <p:nvPr>
            <p:ph idx="4294967295" type="body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Problem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4" name="Google Shape;104;p14"/>
          <p:cNvSpPr txBox="1"/>
          <p:nvPr>
            <p:ph idx="4294967295" type="body"/>
          </p:nvPr>
        </p:nvSpPr>
        <p:spPr>
          <a:xfrm>
            <a:off x="3324050" y="1766275"/>
            <a:ext cx="2628900" cy="29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Today the technology is used in part for: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Money laundering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Terror funding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Tax evasion</a:t>
            </a:r>
            <a:endParaRPr sz="1600"/>
          </a:p>
          <a:p>
            <a:pPr indent="0" lvl="0" marL="45720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grpSp>
        <p:nvGrpSpPr>
          <p:cNvPr id="105" name="Google Shape;105;p14"/>
          <p:cNvGrpSpPr/>
          <p:nvPr/>
        </p:nvGrpSpPr>
        <p:grpSpPr>
          <a:xfrm>
            <a:off x="6123250" y="1304875"/>
            <a:ext cx="2632500" cy="3416400"/>
            <a:chOff x="6212550" y="1304875"/>
            <a:chExt cx="2632500" cy="3416400"/>
          </a:xfrm>
        </p:grpSpPr>
        <p:sp>
          <p:nvSpPr>
            <p:cNvPr id="106" name="Google Shape;106;p14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4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" name="Google Shape;108;p14"/>
          <p:cNvSpPr txBox="1"/>
          <p:nvPr>
            <p:ph idx="4294967295" type="body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Solution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9" name="Google Shape;109;p14"/>
          <p:cNvSpPr txBox="1"/>
          <p:nvPr>
            <p:ph idx="4294967295" type="body"/>
          </p:nvPr>
        </p:nvSpPr>
        <p:spPr>
          <a:xfrm>
            <a:off x="431925" y="1766275"/>
            <a:ext cx="2628900" cy="29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Blockchain technology </a:t>
            </a:r>
            <a:r>
              <a:rPr lang="en" sz="1600"/>
              <a:t>caused</a:t>
            </a:r>
            <a:r>
              <a:rPr lang="en" sz="1600"/>
              <a:t> a financial revolution 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Instant transfer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Unregulated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Anonymous </a:t>
            </a:r>
            <a:endParaRPr sz="1600"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10" name="Google Shape;110;p14"/>
          <p:cNvSpPr txBox="1"/>
          <p:nvPr>
            <p:ph idx="4294967295" type="body"/>
          </p:nvPr>
        </p:nvSpPr>
        <p:spPr>
          <a:xfrm>
            <a:off x="6123200" y="1766275"/>
            <a:ext cx="2632500" cy="29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There</a:t>
            </a:r>
            <a:r>
              <a:rPr lang="en" sz="1600"/>
              <a:t> is a need for </a:t>
            </a:r>
            <a:r>
              <a:rPr b="1" lang="en" sz="1600"/>
              <a:t>automatic tools</a:t>
            </a:r>
            <a:r>
              <a:rPr lang="en" sz="1600"/>
              <a:t> to track these behaviours</a:t>
            </a:r>
            <a:endParaRPr sz="1600"/>
          </a:p>
          <a:p>
            <a:pPr indent="0" lvl="0" marL="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</a:t>
            </a:r>
            <a:endParaRPr/>
          </a:p>
        </p:txBody>
      </p:sp>
      <p:sp>
        <p:nvSpPr>
          <p:cNvPr id="116" name="Google Shape;116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a system that: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Interaction</a:t>
            </a:r>
            <a:r>
              <a:rPr lang="en"/>
              <a:t> with user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Processes</a:t>
            </a:r>
            <a:r>
              <a:rPr lang="en"/>
              <a:t> real-time transaction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Classification</a:t>
            </a:r>
            <a:r>
              <a:rPr lang="en"/>
              <a:t> of requested wallet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Results Showcase</a:t>
            </a:r>
            <a:r>
              <a:rPr lang="en"/>
              <a:t> to user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6075" y="282499"/>
            <a:ext cx="3806225" cy="212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123" name="Google Shape;123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Elliptic</a:t>
            </a:r>
            <a:endParaRPr b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600K labeled wallets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Bitcoin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19 Features</a:t>
            </a:r>
            <a:endParaRPr sz="1600"/>
          </a:p>
          <a:p>
            <a:pPr indent="-330200" lvl="1" marL="914400" rtl="1" algn="r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ן</a:t>
            </a:r>
            <a:endParaRPr sz="1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b="1" lang="en" sz="16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Real-CATS</a:t>
            </a:r>
            <a:r>
              <a:rPr b="1" lang="en" sz="1600"/>
              <a:t> </a:t>
            </a:r>
            <a:endParaRPr b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Over 200K labeled wallets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Bitcoin &amp; Ethereum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25 </a:t>
            </a:r>
            <a:r>
              <a:rPr lang="en" sz="1600"/>
              <a:t>Features</a:t>
            </a:r>
            <a:endParaRPr sz="1600"/>
          </a:p>
          <a:p>
            <a:pPr indent="0" lvl="0" marL="9144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91440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24" name="Google Shape;12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99950" y="1017800"/>
            <a:ext cx="3768775" cy="251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WorkFlow Pipeline</a:t>
            </a:r>
            <a:endParaRPr/>
          </a:p>
        </p:txBody>
      </p:sp>
      <p:pic>
        <p:nvPicPr>
          <p:cNvPr id="130" name="Google Shape;130;p17" title="Mid Complexity ML Pipeline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200"/>
            <a:ext cx="8839204" cy="2412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Pre-Marathon Status</a:t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432350" y="1304875"/>
            <a:ext cx="2469300" cy="6078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 txBox="1"/>
          <p:nvPr>
            <p:ph idx="4294967295" type="body"/>
          </p:nvPr>
        </p:nvSpPr>
        <p:spPr>
          <a:xfrm>
            <a:off x="4323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Model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8" name="Google Shape;138;p18"/>
          <p:cNvSpPr txBox="1"/>
          <p:nvPr>
            <p:ph idx="4294967295" type="body"/>
          </p:nvPr>
        </p:nvSpPr>
        <p:spPr>
          <a:xfrm>
            <a:off x="432350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We made an initial GNN model but did not fully explore its behavior.</a:t>
            </a:r>
            <a:endParaRPr b="1" sz="1600"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b="1" lang="en" sz="1600"/>
              <a:t>Only basic </a:t>
            </a:r>
            <a:r>
              <a:rPr b="1" lang="en" sz="1600"/>
              <a:t>evaluation</a:t>
            </a:r>
            <a:r>
              <a:rPr b="1" lang="en" sz="1600"/>
              <a:t>.</a:t>
            </a:r>
            <a:endParaRPr b="1" sz="1600"/>
          </a:p>
        </p:txBody>
      </p:sp>
      <p:sp>
        <p:nvSpPr>
          <p:cNvPr id="139" name="Google Shape;139;p18"/>
          <p:cNvSpPr/>
          <p:nvPr/>
        </p:nvSpPr>
        <p:spPr>
          <a:xfrm>
            <a:off x="3044777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 txBox="1"/>
          <p:nvPr>
            <p:ph idx="4294967295" type="body"/>
          </p:nvPr>
        </p:nvSpPr>
        <p:spPr>
          <a:xfrm>
            <a:off x="33361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Lack of integration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1" name="Google Shape;141;p18"/>
          <p:cNvSpPr txBox="1"/>
          <p:nvPr>
            <p:ph idx="4294967295" type="body"/>
          </p:nvPr>
        </p:nvSpPr>
        <p:spPr>
          <a:xfrm>
            <a:off x="3336146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1600"/>
              <a:t>The model was not integrated to the frontend/backend</a:t>
            </a:r>
            <a:endParaRPr sz="1600"/>
          </a:p>
        </p:txBody>
      </p:sp>
      <p:sp>
        <p:nvSpPr>
          <p:cNvPr id="142" name="Google Shape;142;p18"/>
          <p:cNvSpPr/>
          <p:nvPr/>
        </p:nvSpPr>
        <p:spPr>
          <a:xfrm>
            <a:off x="5948502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 txBox="1"/>
          <p:nvPr>
            <p:ph idx="4294967295" type="body"/>
          </p:nvPr>
        </p:nvSpPr>
        <p:spPr>
          <a:xfrm>
            <a:off x="6254233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Lacking UI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4" name="Google Shape;144;p18"/>
          <p:cNvSpPr txBox="1"/>
          <p:nvPr>
            <p:ph idx="4294967295" type="body"/>
          </p:nvPr>
        </p:nvSpPr>
        <p:spPr>
          <a:xfrm>
            <a:off x="6254226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1600"/>
              <a:t>Initial UI only had basic features and no further analysis of the given wallet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Marathon Goals</a:t>
            </a:r>
            <a:endParaRPr/>
          </a:p>
        </p:txBody>
      </p:sp>
      <p:sp>
        <p:nvSpPr>
          <p:cNvPr id="150" name="Google Shape;150;p19"/>
          <p:cNvSpPr/>
          <p:nvPr/>
        </p:nvSpPr>
        <p:spPr>
          <a:xfrm>
            <a:off x="432350" y="1304875"/>
            <a:ext cx="2469300" cy="6078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"/>
          <p:cNvSpPr txBox="1"/>
          <p:nvPr>
            <p:ph idx="4294967295" type="body"/>
          </p:nvPr>
        </p:nvSpPr>
        <p:spPr>
          <a:xfrm>
            <a:off x="4323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Model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2" name="Google Shape;152;p19"/>
          <p:cNvSpPr txBox="1"/>
          <p:nvPr>
            <p:ph idx="4294967295" type="body"/>
          </p:nvPr>
        </p:nvSpPr>
        <p:spPr>
          <a:xfrm>
            <a:off x="432350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1600"/>
              <a:t>Gaining deeper understanding of model behavior</a:t>
            </a:r>
            <a:endParaRPr sz="1600"/>
          </a:p>
        </p:txBody>
      </p:sp>
      <p:sp>
        <p:nvSpPr>
          <p:cNvPr id="153" name="Google Shape;153;p19"/>
          <p:cNvSpPr/>
          <p:nvPr/>
        </p:nvSpPr>
        <p:spPr>
          <a:xfrm>
            <a:off x="3044777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9"/>
          <p:cNvSpPr txBox="1"/>
          <p:nvPr>
            <p:ph idx="4294967295" type="body"/>
          </p:nvPr>
        </p:nvSpPr>
        <p:spPr>
          <a:xfrm>
            <a:off x="33361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Full integration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5" name="Google Shape;155;p19"/>
          <p:cNvSpPr txBox="1"/>
          <p:nvPr>
            <p:ph idx="4294967295" type="body"/>
          </p:nvPr>
        </p:nvSpPr>
        <p:spPr>
          <a:xfrm>
            <a:off x="3336146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Make t</a:t>
            </a:r>
            <a:r>
              <a:rPr b="1" lang="en" sz="1600"/>
              <a:t>he model fully </a:t>
            </a:r>
            <a:r>
              <a:rPr b="1" lang="en" sz="1600"/>
              <a:t>in</a:t>
            </a:r>
            <a:r>
              <a:rPr b="1" lang="en" sz="1600"/>
              <a:t>tegrated with the</a:t>
            </a:r>
            <a:r>
              <a:rPr b="1" lang="en" sz="1600"/>
              <a:t> f</a:t>
            </a:r>
            <a:r>
              <a:rPr b="1" lang="en" sz="1600"/>
              <a:t>rontend/backend</a:t>
            </a:r>
            <a:endParaRPr b="1" sz="1600"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b="1" lang="en" sz="1600"/>
              <a:t>Allowing querying the model for </a:t>
            </a:r>
            <a:r>
              <a:rPr b="1" lang="en" sz="1600"/>
              <a:t>classification</a:t>
            </a:r>
            <a:endParaRPr b="1" sz="1600"/>
          </a:p>
        </p:txBody>
      </p:sp>
      <p:sp>
        <p:nvSpPr>
          <p:cNvPr id="156" name="Google Shape;156;p19"/>
          <p:cNvSpPr/>
          <p:nvPr/>
        </p:nvSpPr>
        <p:spPr>
          <a:xfrm>
            <a:off x="5948502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9"/>
          <p:cNvSpPr txBox="1"/>
          <p:nvPr>
            <p:ph idx="4294967295" type="body"/>
          </p:nvPr>
        </p:nvSpPr>
        <p:spPr>
          <a:xfrm>
            <a:off x="6254233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Improve </a:t>
            </a:r>
            <a:r>
              <a:rPr lang="en">
                <a:solidFill>
                  <a:schemeClr val="lt1"/>
                </a:solidFill>
              </a:rPr>
              <a:t>UI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8" name="Google Shape;158;p19"/>
          <p:cNvSpPr txBox="1"/>
          <p:nvPr>
            <p:ph idx="4294967295" type="body"/>
          </p:nvPr>
        </p:nvSpPr>
        <p:spPr>
          <a:xfrm>
            <a:off x="6254226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Deeper results analysis</a:t>
            </a:r>
            <a:endParaRPr b="1" sz="1600"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b="1" lang="en" sz="1600"/>
              <a:t>Allowing broad understanding of wallet’s behavior and </a:t>
            </a:r>
            <a:r>
              <a:rPr b="1" lang="en" sz="1600"/>
              <a:t>patterns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Marathon results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9075" y="19500"/>
            <a:ext cx="3475454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1"/>
          <p:cNvSpPr txBox="1"/>
          <p:nvPr>
            <p:ph type="title"/>
          </p:nvPr>
        </p:nvSpPr>
        <p:spPr>
          <a:xfrm>
            <a:off x="405775" y="2134947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The Model</a:t>
            </a:r>
            <a:endParaRPr sz="4300"/>
          </a:p>
        </p:txBody>
      </p:sp>
      <p:sp>
        <p:nvSpPr>
          <p:cNvPr id="170" name="Google Shape;170;p21"/>
          <p:cNvSpPr txBox="1"/>
          <p:nvPr/>
        </p:nvSpPr>
        <p:spPr>
          <a:xfrm>
            <a:off x="3236075" y="4618875"/>
            <a:ext cx="592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Good baseline results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(acc: 81.1%, F1: 80.09%)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Even </a:t>
            </a:r>
            <a:r>
              <a:rPr lang="en"/>
              <a:t>distribution</a:t>
            </a:r>
            <a:r>
              <a:rPr lang="en"/>
              <a:t> of FN,TN values</a:t>
            </a:r>
            <a:endParaRPr/>
          </a:p>
        </p:txBody>
      </p:sp>
      <p:pic>
        <p:nvPicPr>
          <p:cNvPr id="177" name="Google Shape;17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6797" y="1444025"/>
            <a:ext cx="4387201" cy="3446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3525"/>
            <a:ext cx="4572000" cy="3429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200350"/>
            <a:ext cx="4572000" cy="305997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3"/>
          <p:cNvSpPr txBox="1"/>
          <p:nvPr>
            <p:ph type="title"/>
          </p:nvPr>
        </p:nvSpPr>
        <p:spPr>
          <a:xfrm>
            <a:off x="311700" y="159098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Behavior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>
            <p:ph type="title"/>
          </p:nvPr>
        </p:nvSpPr>
        <p:spPr>
          <a:xfrm>
            <a:off x="311700" y="143416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Integration and I</a:t>
            </a:r>
            <a:r>
              <a:rPr lang="en"/>
              <a:t>mprovement</a:t>
            </a:r>
            <a:endParaRPr/>
          </a:p>
        </p:txBody>
      </p:sp>
      <p:sp>
        <p:nvSpPr>
          <p:cNvPr id="190" name="Google Shape;190;p2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9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30136"/>
            <a:ext cx="9144001" cy="4086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/>
          <p:nvPr>
            <p:ph type="title"/>
          </p:nvPr>
        </p:nvSpPr>
        <p:spPr>
          <a:xfrm>
            <a:off x="311700" y="-9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Integration and Improvement</a:t>
            </a:r>
            <a:endParaRPr/>
          </a:p>
        </p:txBody>
      </p:sp>
      <p:sp>
        <p:nvSpPr>
          <p:cNvPr id="197" name="Google Shape;197;p2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31525"/>
            <a:ext cx="9144003" cy="451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6"/>
          <p:cNvSpPr txBox="1"/>
          <p:nvPr>
            <p:ph type="title"/>
          </p:nvPr>
        </p:nvSpPr>
        <p:spPr>
          <a:xfrm>
            <a:off x="311700" y="143416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Integration and Improvement</a:t>
            </a:r>
            <a:endParaRPr/>
          </a:p>
        </p:txBody>
      </p:sp>
      <p:sp>
        <p:nvSpPr>
          <p:cNvPr id="204" name="Google Shape;204;p2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83957"/>
            <a:ext cx="9144003" cy="3830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 txBox="1"/>
          <p:nvPr>
            <p:ph type="title"/>
          </p:nvPr>
        </p:nvSpPr>
        <p:spPr>
          <a:xfrm>
            <a:off x="311700" y="143416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Integration and Improvement</a:t>
            </a:r>
            <a:endParaRPr/>
          </a:p>
        </p:txBody>
      </p:sp>
      <p:sp>
        <p:nvSpPr>
          <p:cNvPr id="211" name="Google Shape;211;p2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12" name="Google Shape;21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51229"/>
            <a:ext cx="9144003" cy="43442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Background pointer shape in timeline graphic" id="217" name="Google Shape;217;p28"/>
          <p:cNvSpPr/>
          <p:nvPr/>
        </p:nvSpPr>
        <p:spPr>
          <a:xfrm>
            <a:off x="340934" y="2464451"/>
            <a:ext cx="1872300" cy="745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8" name="Google Shape;218;p28"/>
          <p:cNvGrpSpPr/>
          <p:nvPr/>
        </p:nvGrpSpPr>
        <p:grpSpPr>
          <a:xfrm>
            <a:off x="969270" y="1875666"/>
            <a:ext cx="198900" cy="593656"/>
            <a:chOff x="777447" y="1610215"/>
            <a:chExt cx="198900" cy="593656"/>
          </a:xfrm>
        </p:grpSpPr>
        <p:cxnSp>
          <p:nvCxnSpPr>
            <p:cNvPr id="219" name="Google Shape;219;p28"/>
            <p:cNvCxnSpPr/>
            <p:nvPr/>
          </p:nvCxnSpPr>
          <p:spPr>
            <a:xfrm>
              <a:off x="876909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0" name="Google Shape;220;p28"/>
            <p:cNvSpPr/>
            <p:nvPr/>
          </p:nvSpPr>
          <p:spPr>
            <a:xfrm>
              <a:off x="777447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1" name="Google Shape;221;p28"/>
          <p:cNvSpPr txBox="1"/>
          <p:nvPr>
            <p:ph idx="4294967295" type="body"/>
          </p:nvPr>
        </p:nvSpPr>
        <p:spPr>
          <a:xfrm>
            <a:off x="318375" y="791651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Testing model performance </a:t>
            </a:r>
            <a:r>
              <a:rPr lang="en" sz="1600"/>
              <a:t>against</a:t>
            </a:r>
            <a:r>
              <a:rPr lang="en" sz="1600"/>
              <a:t> baseline</a:t>
            </a:r>
            <a:endParaRPr sz="1600"/>
          </a:p>
        </p:txBody>
      </p:sp>
      <p:sp>
        <p:nvSpPr>
          <p:cNvPr descr="Background pointer shape in timeline graphic" id="222" name="Google Shape;222;p28"/>
          <p:cNvSpPr/>
          <p:nvPr/>
        </p:nvSpPr>
        <p:spPr>
          <a:xfrm>
            <a:off x="1817054" y="2464451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3" name="Google Shape;223;p28"/>
          <p:cNvGrpSpPr/>
          <p:nvPr/>
        </p:nvGrpSpPr>
        <p:grpSpPr>
          <a:xfrm>
            <a:off x="2684632" y="3204409"/>
            <a:ext cx="198900" cy="593656"/>
            <a:chOff x="2223534" y="2938958"/>
            <a:chExt cx="198900" cy="593656"/>
          </a:xfrm>
        </p:grpSpPr>
        <p:cxnSp>
          <p:nvCxnSpPr>
            <p:cNvPr id="224" name="Google Shape;224;p28"/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5" name="Google Shape;225;p28"/>
            <p:cNvSpPr/>
            <p:nvPr/>
          </p:nvSpPr>
          <p:spPr>
            <a:xfrm flipH="1" rot="10800000">
              <a:off x="2223534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" name="Google Shape;226;p28"/>
          <p:cNvSpPr txBox="1"/>
          <p:nvPr>
            <p:ph idx="4294967295" type="body"/>
          </p:nvPr>
        </p:nvSpPr>
        <p:spPr>
          <a:xfrm>
            <a:off x="1681538" y="3976332"/>
            <a:ext cx="22428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Experimentation</a:t>
            </a:r>
            <a:r>
              <a:rPr lang="en" sz="1600"/>
              <a:t> and evaluation of additional model architectures</a:t>
            </a:r>
            <a:endParaRPr sz="1600"/>
          </a:p>
        </p:txBody>
      </p:sp>
      <p:sp>
        <p:nvSpPr>
          <p:cNvPr descr="Background pointer shape in timeline graphic" id="227" name="Google Shape;227;p28"/>
          <p:cNvSpPr/>
          <p:nvPr/>
        </p:nvSpPr>
        <p:spPr>
          <a:xfrm>
            <a:off x="3471973" y="2464451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8" name="Google Shape;228;p28"/>
          <p:cNvGrpSpPr/>
          <p:nvPr/>
        </p:nvGrpSpPr>
        <p:grpSpPr>
          <a:xfrm>
            <a:off x="4319545" y="1875666"/>
            <a:ext cx="198900" cy="593656"/>
            <a:chOff x="3918084" y="1610215"/>
            <a:chExt cx="198900" cy="593656"/>
          </a:xfrm>
        </p:grpSpPr>
        <p:cxnSp>
          <p:nvCxnSpPr>
            <p:cNvPr id="229" name="Google Shape;229;p28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0" name="Google Shape;230;p28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1" name="Google Shape;231;p28"/>
          <p:cNvSpPr txBox="1"/>
          <p:nvPr>
            <p:ph idx="4294967295" type="body"/>
          </p:nvPr>
        </p:nvSpPr>
        <p:spPr>
          <a:xfrm>
            <a:off x="3304094" y="1041487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Fine-tuning the chosen model</a:t>
            </a:r>
            <a:endParaRPr sz="1600"/>
          </a:p>
        </p:txBody>
      </p:sp>
      <p:sp>
        <p:nvSpPr>
          <p:cNvPr descr="Background pointer shape in timeline graphic" id="232" name="Google Shape;232;p28"/>
          <p:cNvSpPr/>
          <p:nvPr/>
        </p:nvSpPr>
        <p:spPr>
          <a:xfrm>
            <a:off x="5126893" y="2464451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3" name="Google Shape;233;p28"/>
          <p:cNvGrpSpPr/>
          <p:nvPr/>
        </p:nvGrpSpPr>
        <p:grpSpPr>
          <a:xfrm>
            <a:off x="5973070" y="3204409"/>
            <a:ext cx="198900" cy="593656"/>
            <a:chOff x="5958946" y="2938958"/>
            <a:chExt cx="198900" cy="593656"/>
          </a:xfrm>
        </p:grpSpPr>
        <p:cxnSp>
          <p:nvCxnSpPr>
            <p:cNvPr id="234" name="Google Shape;234;p28"/>
            <p:cNvCxnSpPr/>
            <p:nvPr/>
          </p:nvCxnSpPr>
          <p:spPr>
            <a:xfrm rot="10800000">
              <a:off x="6058409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5" name="Google Shape;235;p28"/>
            <p:cNvSpPr/>
            <p:nvPr/>
          </p:nvSpPr>
          <p:spPr>
            <a:xfrm flipH="1" rot="10800000">
              <a:off x="5958946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6" name="Google Shape;236;p28"/>
          <p:cNvSpPr txBox="1"/>
          <p:nvPr>
            <p:ph idx="4294967295" type="body"/>
          </p:nvPr>
        </p:nvSpPr>
        <p:spPr>
          <a:xfrm>
            <a:off x="5126902" y="4023176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Publishing the site online</a:t>
            </a:r>
            <a:endParaRPr sz="1600"/>
          </a:p>
        </p:txBody>
      </p:sp>
      <p:sp>
        <p:nvSpPr>
          <p:cNvPr descr="Background pointer shape in timeline graphic" id="237" name="Google Shape;237;p28"/>
          <p:cNvSpPr/>
          <p:nvPr/>
        </p:nvSpPr>
        <p:spPr>
          <a:xfrm>
            <a:off x="6781813" y="2464451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8" name="Google Shape;238;p28"/>
          <p:cNvGrpSpPr/>
          <p:nvPr/>
        </p:nvGrpSpPr>
        <p:grpSpPr>
          <a:xfrm>
            <a:off x="7669807" y="1875666"/>
            <a:ext cx="198900" cy="593656"/>
            <a:chOff x="3918084" y="1610215"/>
            <a:chExt cx="198900" cy="593656"/>
          </a:xfrm>
        </p:grpSpPr>
        <p:cxnSp>
          <p:nvCxnSpPr>
            <p:cNvPr id="239" name="Google Shape;239;p28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0" name="Google Shape;240;p28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1" name="Google Shape;241;p28"/>
          <p:cNvSpPr txBox="1"/>
          <p:nvPr>
            <p:ph idx="4294967295" type="body"/>
          </p:nvPr>
        </p:nvSpPr>
        <p:spPr>
          <a:xfrm>
            <a:off x="6685979" y="1057101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Creating the final product</a:t>
            </a:r>
            <a:endParaRPr sz="1600"/>
          </a:p>
        </p:txBody>
      </p:sp>
      <p:sp>
        <p:nvSpPr>
          <p:cNvPr id="242" name="Google Shape;242;p28"/>
          <p:cNvSpPr txBox="1"/>
          <p:nvPr>
            <p:ph idx="4294967295" type="title"/>
          </p:nvPr>
        </p:nvSpPr>
        <p:spPr>
          <a:xfrm>
            <a:off x="311700" y="143416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