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32404050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A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74" autoAdjust="0"/>
    <p:restoredTop sz="93969" autoAdjust="0"/>
  </p:normalViewPr>
  <p:slideViewPr>
    <p:cSldViewPr>
      <p:cViewPr>
        <p:scale>
          <a:sx n="34" d="100"/>
          <a:sy n="34" d="100"/>
        </p:scale>
        <p:origin x="2624" y="-1728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41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2848BA3-65B5-9CE8-5457-020CF80DA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7795A76-9F84-447E-BB3C-0E99DC9A7893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2C7B179-2E6D-0F3E-3AA5-31C56C1F6C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A3B4240-7A02-3306-A010-8598FD990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CE76302-23F1-4F8A-AFF7-68C9E725906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DB713015-E60D-C0F3-AA54-0D0FC4136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2342818-AFE6-04E9-D584-09518AEE5B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0832A8-C210-4F33-AE43-195174582F37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8226FDC5-989C-BF91-346E-D814B236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C4799B09-5F3B-5842-1636-08A3A7D8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838119-1D8B-E16B-441F-6C668EF167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C2D3BC-F833-CA4B-E0EA-0575EC7AA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3A560B-3F5C-43F4-A174-91AE6E23805E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8787F0E2-BDCF-4BEC-4BBE-5D3D69DC90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38897583-C133-D537-88F8-7EB09FEFB1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51145BE9-7056-27E4-7903-23CABAB0A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87EBD30-EAB9-4B9A-BA4A-6BA3390DBE6B}" type="slidenum">
              <a:rPr lang="he-IL" altLang="he-IL" sz="1200" smtClean="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4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0FEDBB-C8F6-42E4-F66F-93FDC6A2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8CE9EEE-6AB5-45AD-9FB2-02BB5B08798B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649503-D1FA-48F4-F5ED-5AA6D061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8A0DC1-D689-E89C-A19B-736431E9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A12231-A109-4469-97F8-435614A629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3727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CB5305-3D4A-51E2-529C-F1486CF0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0223FEA-D0D4-4859-AA8A-E2A4EFDE6830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A39721-D078-3F4D-BA85-E802D8D1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80AC5C-22A9-855F-ED50-5CEE040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9C14FCD-94FB-440C-B541-A5AE4DADB4B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8513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295C321-5736-9B3A-20F6-108071A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58C302A-08B9-4825-9654-B73B34953AE7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F5B535-50D6-CE43-01F5-3407CA76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57703F-DC3B-41E3-B625-D7B85256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5495EC9-8999-4217-A4B7-9DC4794C59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9437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A634082-DD9B-A726-9BD1-C8F8DF9B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21A1918-2A6A-4839-98EA-0EBF0977D8DB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631EA81-F8AD-A730-0A50-23119BA8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F82B6D9-EB34-C539-328C-494884C2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CBE21B-2B6C-4D11-AB2E-6AF6FB5AE2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099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6B67FCD-BB45-AC11-0654-6D2B255A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E352A1-907E-4DF5-89D4-707D0AA8EA97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8044744-4F40-C962-7883-E2FFB7F8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D207B73-E429-8F61-F30D-DB6F7236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264D37E-92A3-40D6-9467-8097877C14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7339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BBC5082-AF5F-FFAE-1919-C72612FF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683FB42-B98B-4F15-AF70-E60A1DCFD56F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3C98F9A-C5FA-3C78-F2A2-58EACBC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EF5914B-C953-D217-0F8E-6CBF7D5C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E7FD5C-B32F-4823-ADCB-59DD5FE8D89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033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EF6A2C-5CAC-1FE0-F52F-8225D9F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5C35976-970E-4CA3-BFD9-EE7A59D01FEC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A95B7F-6AC8-86B3-EF2F-4DB1D4C3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86B0D65-49E4-52CE-67F5-5C841493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C965446-4229-4EA8-9B22-8F7C60A504C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52347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641CAC8-4ED5-983F-FCE1-5C192B18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AFD69E-0FE1-4124-80E3-40F9D34C6CE2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8C393A-BAC2-1A7E-2CAD-ADC2B104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DDBE70-4FDC-DC9E-2390-187FDBD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2551AAC-806D-4901-ADBE-F6AF4E5779BF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2163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B9587F-7629-EBFB-ED1B-6E8D5BA8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7AB82E0-787E-43E2-BD7F-426675C2181F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6357D10-E57E-72AD-3905-0EF7140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FDF1EB-3FD1-48C5-6964-4702BC6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C9FEA2-3C52-4520-8496-639D7CC35BD1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8392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4D4C18-12A5-D7C1-7E82-2630E4B9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C393ED9-2E3E-4405-B19D-C0FAC804C521}" type="datetimeFigureOut">
              <a:rPr lang="he-IL"/>
              <a:pPr>
                <a:defRPr/>
              </a:pPr>
              <a:t>כ'.סיון.תשפ"ו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BBA733-6B86-B644-4361-87A51B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0D585C-A3EA-05A6-C2F9-C125FDA1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FBA5E06-9577-4D8C-9A00-0B6B078439F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5060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E1790A6-50DB-F538-88D4-587D38680000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D370979-3C3B-361A-B5D2-AFCE761AC1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F7B7D0-5A20-9F70-FE3F-0265D830B01E}"/>
              </a:ext>
            </a:extLst>
          </p:cNvPr>
          <p:cNvSpPr/>
          <p:nvPr/>
        </p:nvSpPr>
        <p:spPr>
          <a:xfrm>
            <a:off x="382927" y="6697044"/>
            <a:ext cx="31638195" cy="4536504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0B8A710-6F1F-ADAA-FC65-ACDF575CC0CA}"/>
              </a:ext>
            </a:extLst>
          </p:cNvPr>
          <p:cNvSpPr/>
          <p:nvPr/>
        </p:nvSpPr>
        <p:spPr>
          <a:xfrm>
            <a:off x="382927" y="18625079"/>
            <a:ext cx="19617068" cy="9242315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996B011-79FE-F146-2204-0695685BC7CA}"/>
              </a:ext>
            </a:extLst>
          </p:cNvPr>
          <p:cNvSpPr/>
          <p:nvPr/>
        </p:nvSpPr>
        <p:spPr>
          <a:xfrm>
            <a:off x="382927" y="28161685"/>
            <a:ext cx="31638195" cy="8693983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7D659BB-3668-E482-339F-B7F79A5B043F}"/>
              </a:ext>
            </a:extLst>
          </p:cNvPr>
          <p:cNvSpPr/>
          <p:nvPr/>
        </p:nvSpPr>
        <p:spPr>
          <a:xfrm>
            <a:off x="20355324" y="11626844"/>
            <a:ext cx="11665799" cy="16240551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66F1A7-810C-816F-8340-D8BCFDD853EE}"/>
              </a:ext>
            </a:extLst>
          </p:cNvPr>
          <p:cNvSpPr/>
          <p:nvPr/>
        </p:nvSpPr>
        <p:spPr>
          <a:xfrm>
            <a:off x="382927" y="11659737"/>
            <a:ext cx="19617068" cy="6378883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EC6F33-358F-9117-D0DE-98CCE46F7071}"/>
              </a:ext>
            </a:extLst>
          </p:cNvPr>
          <p:cNvSpPr/>
          <p:nvPr/>
        </p:nvSpPr>
        <p:spPr>
          <a:xfrm>
            <a:off x="-90847" y="-75136"/>
            <a:ext cx="32379534" cy="63788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319588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4338" name="TextBox 6">
            <a:extLst>
              <a:ext uri="{FF2B5EF4-FFF2-40B4-BE49-F238E27FC236}">
                <a16:creationId xmlns:a16="http://schemas.microsoft.com/office/drawing/2014/main" id="{CDD3160D-0763-ADC8-DD4C-40D039832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38" y="2781837"/>
            <a:ext cx="304323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en-US" altLang="he-IL" sz="1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transactions on the blockchain network</a:t>
            </a:r>
            <a:endParaRPr lang="he-IL" altLang="he-IL" sz="11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39" name="TextBox 9">
            <a:extLst>
              <a:ext uri="{FF2B5EF4-FFF2-40B4-BE49-F238E27FC236}">
                <a16:creationId xmlns:a16="http://schemas.microsoft.com/office/drawing/2014/main" id="{783B316F-98D7-4B35-1477-5719C13EE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014" y="3891421"/>
            <a:ext cx="210026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he-IL" sz="8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 Sinvani, Harel Brener, Nehoray Chalfon</a:t>
            </a:r>
            <a:endParaRPr lang="he-IL" altLang="he-IL" sz="8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40" name="TextBox 10">
            <a:extLst>
              <a:ext uri="{FF2B5EF4-FFF2-40B4-BE49-F238E27FC236}">
                <a16:creationId xmlns:a16="http://schemas.microsoft.com/office/drawing/2014/main" id="{37906BF6-80F4-1E2D-7932-108B411E1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9411" y="5103418"/>
            <a:ext cx="210026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he-IL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Dr. Ofer Zevin</a:t>
            </a:r>
          </a:p>
        </p:txBody>
      </p:sp>
      <p:sp>
        <p:nvSpPr>
          <p:cNvPr id="14342" name="TextBox 1">
            <a:extLst>
              <a:ext uri="{FF2B5EF4-FFF2-40B4-BE49-F238E27FC236}">
                <a16:creationId xmlns:a16="http://schemas.microsoft.com/office/drawing/2014/main" id="{2D39E5F5-AE41-E499-F3F7-53C3EBBB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47" y="362186"/>
            <a:ext cx="52022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he-IL" sz="7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he-I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תמונה 4">
            <a:extLst>
              <a:ext uri="{FF2B5EF4-FFF2-40B4-BE49-F238E27FC236}">
                <a16:creationId xmlns:a16="http://schemas.microsoft.com/office/drawing/2014/main" id="{05F4F1BB-1C1F-0579-CAF2-B54A24D91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9882" y="-75136"/>
            <a:ext cx="13198805" cy="21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4CD4C588-2826-FBB9-CE54-A6D269F21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7207" y="1280858"/>
            <a:ext cx="8523916" cy="12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4319588" rtl="0" eaLnBrk="1" fontAlgn="base" hangingPunct="1">
              <a:lnSpc>
                <a:spcPts val="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he-IL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DSE/SISE</a:t>
            </a:r>
            <a:endParaRPr lang="he-IL" altLang="he-IL" sz="54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9268824-E741-0197-A9EC-9B902DEC27F2}"/>
              </a:ext>
            </a:extLst>
          </p:cNvPr>
          <p:cNvSpPr/>
          <p:nvPr/>
        </p:nvSpPr>
        <p:spPr>
          <a:xfrm>
            <a:off x="279822" y="37340291"/>
            <a:ext cx="31638195" cy="5520255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6E4EEF-3538-4780-18A7-93A451668E4A}"/>
              </a:ext>
            </a:extLst>
          </p:cNvPr>
          <p:cNvSpPr/>
          <p:nvPr/>
        </p:nvSpPr>
        <p:spPr>
          <a:xfrm>
            <a:off x="12197858" y="6951666"/>
            <a:ext cx="78021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20E0C-2DBD-C424-D5F3-253735788946}"/>
              </a:ext>
            </a:extLst>
          </p:cNvPr>
          <p:cNvSpPr txBox="1"/>
          <p:nvPr/>
        </p:nvSpPr>
        <p:spPr>
          <a:xfrm>
            <a:off x="985371" y="7904275"/>
            <a:ext cx="305543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000" dirty="0"/>
              <a:t>Bitcoin is pseudonymous, making it a haven for scams, ransomware, and money laundering. Spotting criminal wallets is hard as they're rare, anonymous, and their behavior shows in </a:t>
            </a:r>
            <a:r>
              <a:rPr lang="en-IL" sz="4000" i="1" dirty="0"/>
              <a:t>how</a:t>
            </a:r>
            <a:r>
              <a:rPr lang="en-IL" sz="4000" dirty="0"/>
              <a:t> they transact, not in any single address.</a:t>
            </a:r>
            <a:br>
              <a:rPr lang="en-IL" sz="4000" dirty="0"/>
            </a:br>
            <a:r>
              <a:rPr lang="en-IL" sz="4000" dirty="0"/>
              <a:t>Traditional models judge each wallet in isolation and miss this structure. We model the blockchain as a transaction graph and use a Graph Neural Network to learn from each wallet's neighborhood.</a:t>
            </a:r>
          </a:p>
          <a:p>
            <a:r>
              <a:rPr lang="en-IL" sz="4000" b="1" dirty="0"/>
              <a:t>Our Goal is</a:t>
            </a:r>
            <a:r>
              <a:rPr lang="en-IL" sz="4000" dirty="0"/>
              <a:t> classifying a Bitcoin wallet as benign or criminal from its transaction history.</a:t>
            </a:r>
          </a:p>
          <a:p>
            <a:endParaRPr lang="en-IL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61F96-F7B4-B49F-4116-92A68005CD98}"/>
              </a:ext>
            </a:extLst>
          </p:cNvPr>
          <p:cNvSpPr txBox="1"/>
          <p:nvPr/>
        </p:nvSpPr>
        <p:spPr>
          <a:xfrm>
            <a:off x="2085375" y="15498091"/>
            <a:ext cx="170002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L" sz="3200" b="1" dirty="0"/>
              <a:t>Live neighborhood</a:t>
            </a:r>
            <a:r>
              <a:rPr lang="en-IL" sz="3200" dirty="0"/>
              <a:t> from mempool.space — scores any address, even new ones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L" sz="3200" b="1" dirty="0"/>
              <a:t>Graph beats tables</a:t>
            </a:r>
            <a:r>
              <a:rPr lang="en-IL" sz="3200" dirty="0"/>
              <a:t> — GATv2 attention catches relational signal tabular models miss; ghost nodes handle sparse wallets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L" sz="3200" b="1" dirty="0"/>
              <a:t>Calibrated risk score</a:t>
            </a:r>
            <a:r>
              <a:rPr lang="en-IL" sz="3200" dirty="0"/>
              <a:t>, not just a label — trustworthy probability (ROC-AUC 0.958)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CF861-EADC-3B9E-87A9-1FD85B840550}"/>
              </a:ext>
            </a:extLst>
          </p:cNvPr>
          <p:cNvSpPr txBox="1"/>
          <p:nvPr/>
        </p:nvSpPr>
        <p:spPr>
          <a:xfrm>
            <a:off x="928418" y="38838513"/>
            <a:ext cx="305472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000" dirty="0"/>
              <a:t>Modeling the blockchain as a graph clearly pays off as GATv2 beats both baselines on every metric and the calibrated confidence scores make the output usable as a real risk-screening signal, not just a label.</a:t>
            </a:r>
          </a:p>
          <a:p>
            <a:r>
              <a:rPr lang="en-IL" sz="4000" b="1" dirty="0"/>
              <a:t>Limitations:</a:t>
            </a:r>
            <a:r>
              <a:rPr lang="en-IL" sz="4000" dirty="0"/>
              <a:t> performance depends on available transaction history, and labels are scarce and evolve as criminal behavior changes.</a:t>
            </a:r>
          </a:p>
          <a:p>
            <a:r>
              <a:rPr lang="en-IL" sz="4000" b="1" dirty="0"/>
              <a:t>Future work:</a:t>
            </a:r>
            <a:r>
              <a:rPr lang="en-IL" sz="4000" dirty="0"/>
              <a:t> broader datasets, and explainability to show </a:t>
            </a:r>
            <a:r>
              <a:rPr lang="en-IL" sz="4000" i="1" dirty="0"/>
              <a:t>why</a:t>
            </a:r>
            <a:r>
              <a:rPr lang="en-IL" sz="4000" dirty="0"/>
              <a:t> a wallet is flagged.</a:t>
            </a:r>
            <a:br>
              <a:rPr lang="en-IL" sz="4000" dirty="0"/>
            </a:br>
            <a:br>
              <a:rPr lang="en-IL" sz="4000" dirty="0"/>
            </a:br>
            <a:r>
              <a:rPr lang="en-IL" sz="4000" b="1" dirty="0"/>
              <a:t>Website: </a:t>
            </a:r>
            <a:r>
              <a:rPr lang="en-US" sz="4000" b="1" dirty="0" err="1"/>
              <a:t>cryptotrace.cs.bgu.ac.il</a:t>
            </a:r>
            <a:endParaRPr lang="en-IL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5090FC-9D8D-44F1-0E7B-DFDE9475987F}"/>
              </a:ext>
            </a:extLst>
          </p:cNvPr>
          <p:cNvSpPr/>
          <p:nvPr/>
        </p:nvSpPr>
        <p:spPr>
          <a:xfrm>
            <a:off x="11992256" y="37778446"/>
            <a:ext cx="78021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Discussion &amp; Conclusion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32ECE-9AC3-7D87-AD4F-52A1BA405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53" y="21064138"/>
            <a:ext cx="17508810" cy="65110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501A43-238A-8D05-17F6-75F160B91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20" y="13099499"/>
            <a:ext cx="15165936" cy="21327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7995B9-CF0E-F724-56EF-7AF7437B0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2443" y="14008583"/>
            <a:ext cx="9064683" cy="13445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CA6DEE7-8ECB-95BF-F56E-9B6D681B3E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06" y="29546128"/>
            <a:ext cx="13084368" cy="72765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889D58-BEF3-5F62-1B19-A83D36C697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835" y="29705683"/>
            <a:ext cx="10218749" cy="67645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4A7872E-9A2E-7BA2-83A1-F5072F5BA4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4553" y="29546128"/>
            <a:ext cx="6643368" cy="676452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1439C19-AA7B-DCD5-D85E-E88E92AB5678}"/>
              </a:ext>
            </a:extLst>
          </p:cNvPr>
          <p:cNvSpPr/>
          <p:nvPr/>
        </p:nvSpPr>
        <p:spPr>
          <a:xfrm>
            <a:off x="13725345" y="28402721"/>
            <a:ext cx="55707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Metrics &amp; Results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258A16-E352-6D7F-2C5F-477535E78C6C}"/>
              </a:ext>
            </a:extLst>
          </p:cNvPr>
          <p:cNvSpPr/>
          <p:nvPr/>
        </p:nvSpPr>
        <p:spPr>
          <a:xfrm>
            <a:off x="7400052" y="19285454"/>
            <a:ext cx="53142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Training Pipeline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07FEB6-3ED8-9C08-5EC9-9472601E510B}"/>
              </a:ext>
            </a:extLst>
          </p:cNvPr>
          <p:cNvSpPr/>
          <p:nvPr/>
        </p:nvSpPr>
        <p:spPr>
          <a:xfrm>
            <a:off x="8681914" y="11957092"/>
            <a:ext cx="3019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Workflow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0C49EF-1638-3020-C168-9A51320F3F38}"/>
              </a:ext>
            </a:extLst>
          </p:cNvPr>
          <p:cNvSpPr/>
          <p:nvPr/>
        </p:nvSpPr>
        <p:spPr>
          <a:xfrm>
            <a:off x="23436008" y="12264819"/>
            <a:ext cx="59172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 Architecture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035F77-0E70-C949-A8C2-051EDB2AE03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a59bb69-ef16-40b1-b239-8eb22175b98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854DB4E5F29CFF41AF325DC0C8D6D748" ma:contentTypeVersion="2" ma:contentTypeDescription="צור מסמך חדש." ma:contentTypeScope="" ma:versionID="fe7df9faa1e5ccfa42cd66fe3c29f735">
  <xsd:schema xmlns:xsd="http://www.w3.org/2001/XMLSchema" xmlns:xs="http://www.w3.org/2001/XMLSchema" xmlns:p="http://schemas.microsoft.com/office/2006/metadata/properties" xmlns:ns1="http://schemas.microsoft.com/sharepoint/v3" xmlns:ns2="3fd1f8e8-d4eb-4fa9-9edf-90e13be718c2" targetNamespace="http://schemas.microsoft.com/office/2006/metadata/properties" ma:root="true" ma:fieldsID="844f14077d14339ed85a25a7239d3e3f" ns1:_="" ns2:_="">
    <xsd:import namespace="http://schemas.microsoft.com/sharepoint/v3"/>
    <xsd:import namespace="3fd1f8e8-d4eb-4fa9-9edf-90e13be718c2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מתזמן תאריך התחלה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מתזמן תאריך סיום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1f8e8-d4eb-4fa9-9edf-90e13be718c2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ערך של מזהה מסמך" ma:description="הערך של מזהה המסמך שהוקצה לפריט זה." ma:internalName="_dlc_DocId" ma:readOnly="true">
      <xsd:simpleType>
        <xsd:restriction base="dms:Text"/>
      </xsd:simpleType>
    </xsd:element>
    <xsd:element name="_dlc_DocIdUrl" ma:index="11" nillable="true" ma:displayName="מזהה מסמך" ma:description="קישור קבוע למסמך זה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598B6435-3618-49A5-B564-2562FC8867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773BFB-7E4E-48F0-86BD-A2308A0DBD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fd1f8e8-d4eb-4fa9-9edf-90e13be718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842A7-0819-483D-87E9-E0E5F58800E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FE669A1-3A7E-4B3E-89FA-26868125A6F1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265</Words>
  <Application>Microsoft Macintosh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ori sinvani</cp:lastModifiedBy>
  <cp:revision>39</cp:revision>
  <dcterms:created xsi:type="dcterms:W3CDTF">2010-03-24T06:07:16Z</dcterms:created>
  <dcterms:modified xsi:type="dcterms:W3CDTF">2026-06-05T10:59:24Z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5RW434VQ3H3S-892-196</vt:lpwstr>
  </property>
  <property fmtid="{D5CDD505-2E9C-101B-9397-08002B2CF9AE}" pid="3" name="_dlc_DocIdItemGuid">
    <vt:lpwstr>1e876f2f-06f9-413d-bccc-0470f3929c52</vt:lpwstr>
  </property>
  <property fmtid="{D5CDD505-2E9C-101B-9397-08002B2CF9AE}" pid="4" name="_dlc_DocIdUrl">
    <vt:lpwstr>https://in.bgu.ac.il/engn/ise/_layouts/15/DocIdRedir.aspx?ID=5RW434VQ3H3S-892-196, 5RW434VQ3H3S-892-196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</Properties>
</file>